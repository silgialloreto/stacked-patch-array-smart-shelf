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3548"/>
    <a:srgbClr val="0B3245"/>
    <a:srgbClr val="104762"/>
    <a:srgbClr val="0C364A"/>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58FA65-79E1-41E6-82A6-5F972A81C96D}" v="36" dt="2025-01-29T15:42:54.9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A9AAAC-5232-47F5-8E0F-19A5E54E4AC4}" type="datetimeFigureOut">
              <a:rPr lang="it-IT" smtClean="0"/>
              <a:t>20/03/2025</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827EBF-D9CB-4114-8CB7-E64DA75A7470}" type="slidenum">
              <a:rPr lang="it-IT" smtClean="0"/>
              <a:t>‹N›</a:t>
            </a:fld>
            <a:endParaRPr lang="it-IT"/>
          </a:p>
        </p:txBody>
      </p:sp>
    </p:spTree>
    <p:extLst>
      <p:ext uri="{BB962C8B-B14F-4D97-AF65-F5344CB8AC3E}">
        <p14:creationId xmlns:p14="http://schemas.microsoft.com/office/powerpoint/2010/main" val="609010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14827EBF-D9CB-4114-8CB7-E64DA75A7470}" type="slidenum">
              <a:rPr lang="it-IT" smtClean="0"/>
              <a:t>4</a:t>
            </a:fld>
            <a:endParaRPr lang="it-IT"/>
          </a:p>
        </p:txBody>
      </p:sp>
    </p:spTree>
    <p:extLst>
      <p:ext uri="{BB962C8B-B14F-4D97-AF65-F5344CB8AC3E}">
        <p14:creationId xmlns:p14="http://schemas.microsoft.com/office/powerpoint/2010/main" val="2802982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B97C39A-9998-3D76-8AD1-1EC51009542F}"/>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1B5295A9-0939-DF53-DC34-255A24EC8D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42F92C8E-07C2-6026-3F9A-9A20AE3F8CA2}"/>
              </a:ext>
            </a:extLst>
          </p:cNvPr>
          <p:cNvSpPr>
            <a:spLocks noGrp="1"/>
          </p:cNvSpPr>
          <p:nvPr>
            <p:ph type="dt" sz="half" idx="10"/>
          </p:nvPr>
        </p:nvSpPr>
        <p:spPr/>
        <p:txBody>
          <a:bodyPr/>
          <a:lstStyle/>
          <a:p>
            <a:fld id="{132DAFE5-6414-47D5-B2A1-40383F554856}" type="datetimeFigureOut">
              <a:rPr lang="it-IT" smtClean="0"/>
              <a:t>20/03/2025</a:t>
            </a:fld>
            <a:endParaRPr lang="it-IT"/>
          </a:p>
        </p:txBody>
      </p:sp>
      <p:sp>
        <p:nvSpPr>
          <p:cNvPr id="5" name="Segnaposto piè di pagina 4">
            <a:extLst>
              <a:ext uri="{FF2B5EF4-FFF2-40B4-BE49-F238E27FC236}">
                <a16:creationId xmlns:a16="http://schemas.microsoft.com/office/drawing/2014/main" id="{89E80B59-0384-F8DB-EE25-EC50C705EA1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E6255E3-3813-BA10-2D43-94DF2EA4E9DD}"/>
              </a:ext>
            </a:extLst>
          </p:cNvPr>
          <p:cNvSpPr>
            <a:spLocks noGrp="1"/>
          </p:cNvSpPr>
          <p:nvPr>
            <p:ph type="sldNum" sz="quarter" idx="12"/>
          </p:nvPr>
        </p:nvSpPr>
        <p:spPr/>
        <p:txBody>
          <a:bodyPr/>
          <a:lstStyle/>
          <a:p>
            <a:fld id="{BC4AB4B5-F2A3-4324-B8B1-5B4C5B3BE840}" type="slidenum">
              <a:rPr lang="it-IT" smtClean="0"/>
              <a:t>‹N›</a:t>
            </a:fld>
            <a:endParaRPr lang="it-IT"/>
          </a:p>
        </p:txBody>
      </p:sp>
    </p:spTree>
    <p:extLst>
      <p:ext uri="{BB962C8B-B14F-4D97-AF65-F5344CB8AC3E}">
        <p14:creationId xmlns:p14="http://schemas.microsoft.com/office/powerpoint/2010/main" val="3512811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2259929-CE16-DFEA-4EC5-6E5EAC4EB2A0}"/>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04EF72A0-CF71-5747-2945-F8DF05AA7FEE}"/>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5917D3B1-5525-C1E7-7D68-FF919CFB6710}"/>
              </a:ext>
            </a:extLst>
          </p:cNvPr>
          <p:cNvSpPr>
            <a:spLocks noGrp="1"/>
          </p:cNvSpPr>
          <p:nvPr>
            <p:ph type="dt" sz="half" idx="10"/>
          </p:nvPr>
        </p:nvSpPr>
        <p:spPr/>
        <p:txBody>
          <a:bodyPr/>
          <a:lstStyle/>
          <a:p>
            <a:fld id="{132DAFE5-6414-47D5-B2A1-40383F554856}" type="datetimeFigureOut">
              <a:rPr lang="it-IT" smtClean="0"/>
              <a:t>20/03/2025</a:t>
            </a:fld>
            <a:endParaRPr lang="it-IT"/>
          </a:p>
        </p:txBody>
      </p:sp>
      <p:sp>
        <p:nvSpPr>
          <p:cNvPr id="5" name="Segnaposto piè di pagina 4">
            <a:extLst>
              <a:ext uri="{FF2B5EF4-FFF2-40B4-BE49-F238E27FC236}">
                <a16:creationId xmlns:a16="http://schemas.microsoft.com/office/drawing/2014/main" id="{7B5343BA-D6F9-A635-DC30-151AC76987A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863AA501-E895-ED0B-64FC-76A819E4F826}"/>
              </a:ext>
            </a:extLst>
          </p:cNvPr>
          <p:cNvSpPr>
            <a:spLocks noGrp="1"/>
          </p:cNvSpPr>
          <p:nvPr>
            <p:ph type="sldNum" sz="quarter" idx="12"/>
          </p:nvPr>
        </p:nvSpPr>
        <p:spPr/>
        <p:txBody>
          <a:bodyPr/>
          <a:lstStyle/>
          <a:p>
            <a:fld id="{BC4AB4B5-F2A3-4324-B8B1-5B4C5B3BE840}" type="slidenum">
              <a:rPr lang="it-IT" smtClean="0"/>
              <a:t>‹N›</a:t>
            </a:fld>
            <a:endParaRPr lang="it-IT"/>
          </a:p>
        </p:txBody>
      </p:sp>
    </p:spTree>
    <p:extLst>
      <p:ext uri="{BB962C8B-B14F-4D97-AF65-F5344CB8AC3E}">
        <p14:creationId xmlns:p14="http://schemas.microsoft.com/office/powerpoint/2010/main" val="1232978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93B041-85E6-7707-AC90-29A2FBCFB607}"/>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6B3D62E3-39ED-6A32-E9D7-9EF94F73F7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55A0BF83-0F25-3F25-7FD8-73E011D362EF}"/>
              </a:ext>
            </a:extLst>
          </p:cNvPr>
          <p:cNvSpPr>
            <a:spLocks noGrp="1"/>
          </p:cNvSpPr>
          <p:nvPr>
            <p:ph type="dt" sz="half" idx="10"/>
          </p:nvPr>
        </p:nvSpPr>
        <p:spPr/>
        <p:txBody>
          <a:bodyPr/>
          <a:lstStyle/>
          <a:p>
            <a:fld id="{132DAFE5-6414-47D5-B2A1-40383F554856}" type="datetimeFigureOut">
              <a:rPr lang="it-IT" smtClean="0"/>
              <a:t>20/03/2025</a:t>
            </a:fld>
            <a:endParaRPr lang="it-IT"/>
          </a:p>
        </p:txBody>
      </p:sp>
      <p:sp>
        <p:nvSpPr>
          <p:cNvPr id="5" name="Segnaposto piè di pagina 4">
            <a:extLst>
              <a:ext uri="{FF2B5EF4-FFF2-40B4-BE49-F238E27FC236}">
                <a16:creationId xmlns:a16="http://schemas.microsoft.com/office/drawing/2014/main" id="{5C3308F8-FDA2-4182-A2FB-610D5F75FEF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BD7922B-5237-E8DB-9F39-069D753ACC34}"/>
              </a:ext>
            </a:extLst>
          </p:cNvPr>
          <p:cNvSpPr>
            <a:spLocks noGrp="1"/>
          </p:cNvSpPr>
          <p:nvPr>
            <p:ph type="sldNum" sz="quarter" idx="12"/>
          </p:nvPr>
        </p:nvSpPr>
        <p:spPr/>
        <p:txBody>
          <a:bodyPr/>
          <a:lstStyle/>
          <a:p>
            <a:fld id="{BC4AB4B5-F2A3-4324-B8B1-5B4C5B3BE840}" type="slidenum">
              <a:rPr lang="it-IT" smtClean="0"/>
              <a:t>‹N›</a:t>
            </a:fld>
            <a:endParaRPr lang="it-IT"/>
          </a:p>
        </p:txBody>
      </p:sp>
    </p:spTree>
    <p:extLst>
      <p:ext uri="{BB962C8B-B14F-4D97-AF65-F5344CB8AC3E}">
        <p14:creationId xmlns:p14="http://schemas.microsoft.com/office/powerpoint/2010/main" val="1105927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3A96A39-20A8-A22D-F8DE-6F60BF9FB135}"/>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03FC40C8-C088-9AFD-1EA6-E025C55B87E9}"/>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F3F349F5-85E0-5F36-7F02-6CFDCAD1DBB3}"/>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89F1A69A-9842-A904-76C4-9A0BC4573D0A}"/>
              </a:ext>
            </a:extLst>
          </p:cNvPr>
          <p:cNvSpPr>
            <a:spLocks noGrp="1"/>
          </p:cNvSpPr>
          <p:nvPr>
            <p:ph type="dt" sz="half" idx="10"/>
          </p:nvPr>
        </p:nvSpPr>
        <p:spPr/>
        <p:txBody>
          <a:bodyPr/>
          <a:lstStyle/>
          <a:p>
            <a:fld id="{132DAFE5-6414-47D5-B2A1-40383F554856}" type="datetimeFigureOut">
              <a:rPr lang="it-IT" smtClean="0"/>
              <a:t>20/03/2025</a:t>
            </a:fld>
            <a:endParaRPr lang="it-IT"/>
          </a:p>
        </p:txBody>
      </p:sp>
      <p:sp>
        <p:nvSpPr>
          <p:cNvPr id="6" name="Segnaposto piè di pagina 5">
            <a:extLst>
              <a:ext uri="{FF2B5EF4-FFF2-40B4-BE49-F238E27FC236}">
                <a16:creationId xmlns:a16="http://schemas.microsoft.com/office/drawing/2014/main" id="{D38477F5-F693-ACD2-62B9-AADCF0C365A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D03FE9BF-5F88-8323-8DDC-7C6C1701C680}"/>
              </a:ext>
            </a:extLst>
          </p:cNvPr>
          <p:cNvSpPr>
            <a:spLocks noGrp="1"/>
          </p:cNvSpPr>
          <p:nvPr>
            <p:ph type="sldNum" sz="quarter" idx="12"/>
          </p:nvPr>
        </p:nvSpPr>
        <p:spPr/>
        <p:txBody>
          <a:bodyPr/>
          <a:lstStyle/>
          <a:p>
            <a:fld id="{BC4AB4B5-F2A3-4324-B8B1-5B4C5B3BE840}" type="slidenum">
              <a:rPr lang="it-IT" smtClean="0"/>
              <a:t>‹N›</a:t>
            </a:fld>
            <a:endParaRPr lang="it-IT"/>
          </a:p>
        </p:txBody>
      </p:sp>
    </p:spTree>
    <p:extLst>
      <p:ext uri="{BB962C8B-B14F-4D97-AF65-F5344CB8AC3E}">
        <p14:creationId xmlns:p14="http://schemas.microsoft.com/office/powerpoint/2010/main" val="3563950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05CC0D1-57E2-DCF5-2B45-7AFC86A88FB7}"/>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73111D02-8166-F793-6DBA-17502B75BD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54212FC4-1464-8A41-6FDE-2BDA894280D4}"/>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C0A43DE9-24C1-2331-E48B-0E4F496EA4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8BAC828A-55CC-E23F-1400-0ACF805AA172}"/>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A63C4816-1992-879A-5424-83650508A2B6}"/>
              </a:ext>
            </a:extLst>
          </p:cNvPr>
          <p:cNvSpPr>
            <a:spLocks noGrp="1"/>
          </p:cNvSpPr>
          <p:nvPr>
            <p:ph type="dt" sz="half" idx="10"/>
          </p:nvPr>
        </p:nvSpPr>
        <p:spPr/>
        <p:txBody>
          <a:bodyPr/>
          <a:lstStyle/>
          <a:p>
            <a:fld id="{132DAFE5-6414-47D5-B2A1-40383F554856}" type="datetimeFigureOut">
              <a:rPr lang="it-IT" smtClean="0"/>
              <a:t>20/03/2025</a:t>
            </a:fld>
            <a:endParaRPr lang="it-IT"/>
          </a:p>
        </p:txBody>
      </p:sp>
      <p:sp>
        <p:nvSpPr>
          <p:cNvPr id="8" name="Segnaposto piè di pagina 7">
            <a:extLst>
              <a:ext uri="{FF2B5EF4-FFF2-40B4-BE49-F238E27FC236}">
                <a16:creationId xmlns:a16="http://schemas.microsoft.com/office/drawing/2014/main" id="{0BC5E224-9B89-425B-C8D1-103FA7CC1450}"/>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37C5DA25-8221-9008-6D64-FDCAA09184BE}"/>
              </a:ext>
            </a:extLst>
          </p:cNvPr>
          <p:cNvSpPr>
            <a:spLocks noGrp="1"/>
          </p:cNvSpPr>
          <p:nvPr>
            <p:ph type="sldNum" sz="quarter" idx="12"/>
          </p:nvPr>
        </p:nvSpPr>
        <p:spPr/>
        <p:txBody>
          <a:bodyPr/>
          <a:lstStyle/>
          <a:p>
            <a:fld id="{BC4AB4B5-F2A3-4324-B8B1-5B4C5B3BE840}" type="slidenum">
              <a:rPr lang="it-IT" smtClean="0"/>
              <a:t>‹N›</a:t>
            </a:fld>
            <a:endParaRPr lang="it-IT"/>
          </a:p>
        </p:txBody>
      </p:sp>
    </p:spTree>
    <p:extLst>
      <p:ext uri="{BB962C8B-B14F-4D97-AF65-F5344CB8AC3E}">
        <p14:creationId xmlns:p14="http://schemas.microsoft.com/office/powerpoint/2010/main" val="21638227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9C33BF3-768F-74AC-B54A-52151414DD0B}"/>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BCBC0CD0-2C07-D2E9-D433-8A476C09821B}"/>
              </a:ext>
            </a:extLst>
          </p:cNvPr>
          <p:cNvSpPr>
            <a:spLocks noGrp="1"/>
          </p:cNvSpPr>
          <p:nvPr>
            <p:ph type="dt" sz="half" idx="10"/>
          </p:nvPr>
        </p:nvSpPr>
        <p:spPr/>
        <p:txBody>
          <a:bodyPr/>
          <a:lstStyle/>
          <a:p>
            <a:fld id="{132DAFE5-6414-47D5-B2A1-40383F554856}" type="datetimeFigureOut">
              <a:rPr lang="it-IT" smtClean="0"/>
              <a:t>20/03/2025</a:t>
            </a:fld>
            <a:endParaRPr lang="it-IT"/>
          </a:p>
        </p:txBody>
      </p:sp>
      <p:sp>
        <p:nvSpPr>
          <p:cNvPr id="4" name="Segnaposto piè di pagina 3">
            <a:extLst>
              <a:ext uri="{FF2B5EF4-FFF2-40B4-BE49-F238E27FC236}">
                <a16:creationId xmlns:a16="http://schemas.microsoft.com/office/drawing/2014/main" id="{FC85CF29-D2E7-D576-0A8E-1096C2863165}"/>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08CA665F-D65E-31FD-E848-022B6BA5848E}"/>
              </a:ext>
            </a:extLst>
          </p:cNvPr>
          <p:cNvSpPr>
            <a:spLocks noGrp="1"/>
          </p:cNvSpPr>
          <p:nvPr>
            <p:ph type="sldNum" sz="quarter" idx="12"/>
          </p:nvPr>
        </p:nvSpPr>
        <p:spPr/>
        <p:txBody>
          <a:bodyPr/>
          <a:lstStyle/>
          <a:p>
            <a:fld id="{BC4AB4B5-F2A3-4324-B8B1-5B4C5B3BE840}" type="slidenum">
              <a:rPr lang="it-IT" smtClean="0"/>
              <a:t>‹N›</a:t>
            </a:fld>
            <a:endParaRPr lang="it-IT"/>
          </a:p>
        </p:txBody>
      </p:sp>
    </p:spTree>
    <p:extLst>
      <p:ext uri="{BB962C8B-B14F-4D97-AF65-F5344CB8AC3E}">
        <p14:creationId xmlns:p14="http://schemas.microsoft.com/office/powerpoint/2010/main" val="1896976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CC044C34-8D54-9400-34CD-34942F2DD1CC}"/>
              </a:ext>
            </a:extLst>
          </p:cNvPr>
          <p:cNvSpPr>
            <a:spLocks noGrp="1"/>
          </p:cNvSpPr>
          <p:nvPr>
            <p:ph type="dt" sz="half" idx="10"/>
          </p:nvPr>
        </p:nvSpPr>
        <p:spPr/>
        <p:txBody>
          <a:bodyPr/>
          <a:lstStyle/>
          <a:p>
            <a:fld id="{132DAFE5-6414-47D5-B2A1-40383F554856}" type="datetimeFigureOut">
              <a:rPr lang="it-IT" smtClean="0"/>
              <a:t>20/03/2025</a:t>
            </a:fld>
            <a:endParaRPr lang="it-IT"/>
          </a:p>
        </p:txBody>
      </p:sp>
      <p:sp>
        <p:nvSpPr>
          <p:cNvPr id="3" name="Segnaposto piè di pagina 2">
            <a:extLst>
              <a:ext uri="{FF2B5EF4-FFF2-40B4-BE49-F238E27FC236}">
                <a16:creationId xmlns:a16="http://schemas.microsoft.com/office/drawing/2014/main" id="{02DA8BF2-B60C-CEAF-9960-131D07CDAE35}"/>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490F8FEB-6713-B105-E7D0-DA0BE0D946A2}"/>
              </a:ext>
            </a:extLst>
          </p:cNvPr>
          <p:cNvSpPr>
            <a:spLocks noGrp="1"/>
          </p:cNvSpPr>
          <p:nvPr>
            <p:ph type="sldNum" sz="quarter" idx="12"/>
          </p:nvPr>
        </p:nvSpPr>
        <p:spPr/>
        <p:txBody>
          <a:bodyPr/>
          <a:lstStyle/>
          <a:p>
            <a:fld id="{BC4AB4B5-F2A3-4324-B8B1-5B4C5B3BE840}" type="slidenum">
              <a:rPr lang="it-IT" smtClean="0"/>
              <a:t>‹N›</a:t>
            </a:fld>
            <a:endParaRPr lang="it-IT"/>
          </a:p>
        </p:txBody>
      </p:sp>
    </p:spTree>
    <p:extLst>
      <p:ext uri="{BB962C8B-B14F-4D97-AF65-F5344CB8AC3E}">
        <p14:creationId xmlns:p14="http://schemas.microsoft.com/office/powerpoint/2010/main" val="3907731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510BFEA-5EE3-1EF5-1773-E45FB6EE30CE}"/>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D7EB61E4-61BD-27A0-589D-FA94676096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FB892D58-EB26-06D8-0E61-FA65654827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FC3A677D-50F2-AFA0-0C11-EB6A823B58B9}"/>
              </a:ext>
            </a:extLst>
          </p:cNvPr>
          <p:cNvSpPr>
            <a:spLocks noGrp="1"/>
          </p:cNvSpPr>
          <p:nvPr>
            <p:ph type="dt" sz="half" idx="10"/>
          </p:nvPr>
        </p:nvSpPr>
        <p:spPr/>
        <p:txBody>
          <a:bodyPr/>
          <a:lstStyle/>
          <a:p>
            <a:fld id="{132DAFE5-6414-47D5-B2A1-40383F554856}" type="datetimeFigureOut">
              <a:rPr lang="it-IT" smtClean="0"/>
              <a:t>20/03/2025</a:t>
            </a:fld>
            <a:endParaRPr lang="it-IT"/>
          </a:p>
        </p:txBody>
      </p:sp>
      <p:sp>
        <p:nvSpPr>
          <p:cNvPr id="6" name="Segnaposto piè di pagina 5">
            <a:extLst>
              <a:ext uri="{FF2B5EF4-FFF2-40B4-BE49-F238E27FC236}">
                <a16:creationId xmlns:a16="http://schemas.microsoft.com/office/drawing/2014/main" id="{23875E53-6EEF-3417-B729-90EF57075E9F}"/>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834ABD70-642A-8B9B-52A7-32A87F27AC47}"/>
              </a:ext>
            </a:extLst>
          </p:cNvPr>
          <p:cNvSpPr>
            <a:spLocks noGrp="1"/>
          </p:cNvSpPr>
          <p:nvPr>
            <p:ph type="sldNum" sz="quarter" idx="12"/>
          </p:nvPr>
        </p:nvSpPr>
        <p:spPr/>
        <p:txBody>
          <a:bodyPr/>
          <a:lstStyle/>
          <a:p>
            <a:fld id="{BC4AB4B5-F2A3-4324-B8B1-5B4C5B3BE840}" type="slidenum">
              <a:rPr lang="it-IT" smtClean="0"/>
              <a:t>‹N›</a:t>
            </a:fld>
            <a:endParaRPr lang="it-IT"/>
          </a:p>
        </p:txBody>
      </p:sp>
    </p:spTree>
    <p:extLst>
      <p:ext uri="{BB962C8B-B14F-4D97-AF65-F5344CB8AC3E}">
        <p14:creationId xmlns:p14="http://schemas.microsoft.com/office/powerpoint/2010/main" val="3182983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3CE72D5-B5B0-425F-A833-7D591B3B90E7}"/>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42F66382-1623-FEEA-1FB5-0774F88E87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F30571DB-0C81-0342-4A41-C1063FC082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EA7E7973-DBAC-1A67-0CA9-3B003072497F}"/>
              </a:ext>
            </a:extLst>
          </p:cNvPr>
          <p:cNvSpPr>
            <a:spLocks noGrp="1"/>
          </p:cNvSpPr>
          <p:nvPr>
            <p:ph type="dt" sz="half" idx="10"/>
          </p:nvPr>
        </p:nvSpPr>
        <p:spPr/>
        <p:txBody>
          <a:bodyPr/>
          <a:lstStyle/>
          <a:p>
            <a:fld id="{132DAFE5-6414-47D5-B2A1-40383F554856}" type="datetimeFigureOut">
              <a:rPr lang="it-IT" smtClean="0"/>
              <a:t>20/03/2025</a:t>
            </a:fld>
            <a:endParaRPr lang="it-IT"/>
          </a:p>
        </p:txBody>
      </p:sp>
      <p:sp>
        <p:nvSpPr>
          <p:cNvPr id="6" name="Segnaposto piè di pagina 5">
            <a:extLst>
              <a:ext uri="{FF2B5EF4-FFF2-40B4-BE49-F238E27FC236}">
                <a16:creationId xmlns:a16="http://schemas.microsoft.com/office/drawing/2014/main" id="{A2A1BCD0-94E5-D72B-3A95-970DA9DE4AE5}"/>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5660DB54-D543-8979-D61D-3DDFC9713FFB}"/>
              </a:ext>
            </a:extLst>
          </p:cNvPr>
          <p:cNvSpPr>
            <a:spLocks noGrp="1"/>
          </p:cNvSpPr>
          <p:nvPr>
            <p:ph type="sldNum" sz="quarter" idx="12"/>
          </p:nvPr>
        </p:nvSpPr>
        <p:spPr/>
        <p:txBody>
          <a:bodyPr/>
          <a:lstStyle/>
          <a:p>
            <a:fld id="{BC4AB4B5-F2A3-4324-B8B1-5B4C5B3BE840}" type="slidenum">
              <a:rPr lang="it-IT" smtClean="0"/>
              <a:t>‹N›</a:t>
            </a:fld>
            <a:endParaRPr lang="it-IT"/>
          </a:p>
        </p:txBody>
      </p:sp>
    </p:spTree>
    <p:extLst>
      <p:ext uri="{BB962C8B-B14F-4D97-AF65-F5344CB8AC3E}">
        <p14:creationId xmlns:p14="http://schemas.microsoft.com/office/powerpoint/2010/main" val="2453991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62166D0-94A7-B9F6-03F5-36D2BDE8C33F}"/>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11D21959-736F-C334-73BC-02D0C34716BD}"/>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26380EE3-02D1-73E3-AD69-3425708C747A}"/>
              </a:ext>
            </a:extLst>
          </p:cNvPr>
          <p:cNvSpPr>
            <a:spLocks noGrp="1"/>
          </p:cNvSpPr>
          <p:nvPr>
            <p:ph type="dt" sz="half" idx="10"/>
          </p:nvPr>
        </p:nvSpPr>
        <p:spPr/>
        <p:txBody>
          <a:bodyPr/>
          <a:lstStyle/>
          <a:p>
            <a:fld id="{132DAFE5-6414-47D5-B2A1-40383F554856}" type="datetimeFigureOut">
              <a:rPr lang="it-IT" smtClean="0"/>
              <a:t>20/03/2025</a:t>
            </a:fld>
            <a:endParaRPr lang="it-IT"/>
          </a:p>
        </p:txBody>
      </p:sp>
      <p:sp>
        <p:nvSpPr>
          <p:cNvPr id="5" name="Segnaposto piè di pagina 4">
            <a:extLst>
              <a:ext uri="{FF2B5EF4-FFF2-40B4-BE49-F238E27FC236}">
                <a16:creationId xmlns:a16="http://schemas.microsoft.com/office/drawing/2014/main" id="{2D90AC43-B68C-5FD9-D28E-F21018A2A0CF}"/>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85F46E83-AF2C-1085-49E2-7EA942ADBCAA}"/>
              </a:ext>
            </a:extLst>
          </p:cNvPr>
          <p:cNvSpPr>
            <a:spLocks noGrp="1"/>
          </p:cNvSpPr>
          <p:nvPr>
            <p:ph type="sldNum" sz="quarter" idx="12"/>
          </p:nvPr>
        </p:nvSpPr>
        <p:spPr/>
        <p:txBody>
          <a:bodyPr/>
          <a:lstStyle/>
          <a:p>
            <a:fld id="{BC4AB4B5-F2A3-4324-B8B1-5B4C5B3BE840}" type="slidenum">
              <a:rPr lang="it-IT" smtClean="0"/>
              <a:t>‹N›</a:t>
            </a:fld>
            <a:endParaRPr lang="it-IT"/>
          </a:p>
        </p:txBody>
      </p:sp>
    </p:spTree>
    <p:extLst>
      <p:ext uri="{BB962C8B-B14F-4D97-AF65-F5344CB8AC3E}">
        <p14:creationId xmlns:p14="http://schemas.microsoft.com/office/powerpoint/2010/main" val="3911057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380E22CD-3D55-9307-8853-7E9FB9D89425}"/>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63058468-286C-4F35-E779-DAC0746F5569}"/>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E8970FA-27B8-CA0E-8D05-E66A56CF6985}"/>
              </a:ext>
            </a:extLst>
          </p:cNvPr>
          <p:cNvSpPr>
            <a:spLocks noGrp="1"/>
          </p:cNvSpPr>
          <p:nvPr>
            <p:ph type="dt" sz="half" idx="10"/>
          </p:nvPr>
        </p:nvSpPr>
        <p:spPr/>
        <p:txBody>
          <a:bodyPr/>
          <a:lstStyle/>
          <a:p>
            <a:fld id="{132DAFE5-6414-47D5-B2A1-40383F554856}" type="datetimeFigureOut">
              <a:rPr lang="it-IT" smtClean="0"/>
              <a:t>20/03/2025</a:t>
            </a:fld>
            <a:endParaRPr lang="it-IT"/>
          </a:p>
        </p:txBody>
      </p:sp>
      <p:sp>
        <p:nvSpPr>
          <p:cNvPr id="5" name="Segnaposto piè di pagina 4">
            <a:extLst>
              <a:ext uri="{FF2B5EF4-FFF2-40B4-BE49-F238E27FC236}">
                <a16:creationId xmlns:a16="http://schemas.microsoft.com/office/drawing/2014/main" id="{CC02ABAB-3CC1-5CAD-ED2F-02983C54501D}"/>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2896FEA-FA1C-8792-DD77-6D183653C756}"/>
              </a:ext>
            </a:extLst>
          </p:cNvPr>
          <p:cNvSpPr>
            <a:spLocks noGrp="1"/>
          </p:cNvSpPr>
          <p:nvPr>
            <p:ph type="sldNum" sz="quarter" idx="12"/>
          </p:nvPr>
        </p:nvSpPr>
        <p:spPr/>
        <p:txBody>
          <a:bodyPr/>
          <a:lstStyle/>
          <a:p>
            <a:fld id="{BC4AB4B5-F2A3-4324-B8B1-5B4C5B3BE840}" type="slidenum">
              <a:rPr lang="it-IT" smtClean="0"/>
              <a:t>‹N›</a:t>
            </a:fld>
            <a:endParaRPr lang="it-IT"/>
          </a:p>
        </p:txBody>
      </p:sp>
    </p:spTree>
    <p:extLst>
      <p:ext uri="{BB962C8B-B14F-4D97-AF65-F5344CB8AC3E}">
        <p14:creationId xmlns:p14="http://schemas.microsoft.com/office/powerpoint/2010/main" val="2421768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C5BA3BD9-09F5-044B-2C96-FEE688FF80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CBEDAF28-5541-A08D-6BE2-4429CFA624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21A1F704-5310-1B6C-9070-EF405259DA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2DAFE5-6414-47D5-B2A1-40383F554856}" type="datetimeFigureOut">
              <a:rPr lang="it-IT" smtClean="0"/>
              <a:t>20/03/2025</a:t>
            </a:fld>
            <a:endParaRPr lang="it-IT"/>
          </a:p>
        </p:txBody>
      </p:sp>
      <p:sp>
        <p:nvSpPr>
          <p:cNvPr id="5" name="Segnaposto piè di pagina 4">
            <a:extLst>
              <a:ext uri="{FF2B5EF4-FFF2-40B4-BE49-F238E27FC236}">
                <a16:creationId xmlns:a16="http://schemas.microsoft.com/office/drawing/2014/main" id="{8479F11F-CBD4-84D9-7E5C-06FCE1AD2B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069023B0-38B6-0D71-37C7-699C592DBA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4AB4B5-F2A3-4324-B8B1-5B4C5B3BE840}" type="slidenum">
              <a:rPr lang="it-IT" smtClean="0"/>
              <a:t>‹N›</a:t>
            </a:fld>
            <a:endParaRPr lang="it-IT"/>
          </a:p>
        </p:txBody>
      </p:sp>
    </p:spTree>
    <p:extLst>
      <p:ext uri="{BB962C8B-B14F-4D97-AF65-F5344CB8AC3E}">
        <p14:creationId xmlns:p14="http://schemas.microsoft.com/office/powerpoint/2010/main" val="28635382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slide" Target="slide8.xml"/><Relationship Id="rId5" Type="http://schemas.openxmlformats.org/officeDocument/2006/relationships/slide" Target="slide7.xml"/><Relationship Id="rId4" Type="http://schemas.openxmlformats.org/officeDocument/2006/relationships/slide" Target="slide6.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slide" Target="slide3.xml"/></Relationships>
</file>

<file path=ppt/slides/_rels/slide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slide" Target="slide3.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slide" Target="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6A00B74D-5995-80D8-C465-9E793AA7D824}"/>
              </a:ext>
            </a:extLst>
          </p:cNvPr>
          <p:cNvSpPr txBox="1"/>
          <p:nvPr/>
        </p:nvSpPr>
        <p:spPr>
          <a:xfrm>
            <a:off x="619430" y="1563329"/>
            <a:ext cx="11248104" cy="4862870"/>
          </a:xfrm>
          <a:prstGeom prst="rect">
            <a:avLst/>
          </a:prstGeom>
          <a:noFill/>
        </p:spPr>
        <p:txBody>
          <a:bodyPr wrap="square" rtlCol="0">
            <a:spAutoFit/>
          </a:bodyPr>
          <a:lstStyle/>
          <a:p>
            <a:r>
              <a:rPr lang="it-IT" sz="2000" b="1" dirty="0">
                <a:solidFill>
                  <a:srgbClr val="FF0000"/>
                </a:solidFill>
                <a:latin typeface="Times New Roman" panose="02020603050405020304" pitchFamily="18" charset="0"/>
                <a:cs typeface="Times New Roman" panose="02020603050405020304" pitchFamily="18" charset="0"/>
              </a:rPr>
              <a:t>Approfondimento sulle capacità progettuali autonome di ChatGPT.</a:t>
            </a:r>
          </a:p>
          <a:p>
            <a:endParaRPr lang="it-IT" sz="2000" b="1" dirty="0">
              <a:solidFill>
                <a:srgbClr val="FF0000"/>
              </a:solidFill>
            </a:endParaRPr>
          </a:p>
          <a:p>
            <a:r>
              <a:rPr lang="it-IT"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Nel nostro progetto, abbiamo implementato manualmente un array lineare di antenne </a:t>
            </a:r>
            <a:r>
              <a:rPr lang="it-IT" sz="1800"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stacked</a:t>
            </a:r>
            <a:r>
              <a:rPr lang="it-IT"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patch, mentre in parallelo abbiamo richiesto a ChatGPT di realizzare lo stesso progetto in modo autonomo, senza alcuna nostra influenza su parametri, risultati o metodologia. Per garantire un confronto equo, sono state utilizzate due conversazioni separate: una dedicata al supporto per il nostro progetto e l’altra esclusivamente per lo sviluppo indipendente da parte di ChatGPT. A quest’ultima conversazione sono state fornite unicamente le informazioni relative al contesto applicativo, alla frequenza operativa dell’antenna e alla tipologia di componenti dell’array.</a:t>
            </a:r>
            <a:endParaRPr lang="it-IT"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it-IT" dirty="0">
              <a:latin typeface="Times New Roman" panose="02020603050405020304" pitchFamily="18" charset="0"/>
              <a:cs typeface="Times New Roman" panose="02020603050405020304" pitchFamily="18" charset="0"/>
            </a:endParaRPr>
          </a:p>
          <a:p>
            <a:r>
              <a:rPr lang="it-IT" sz="18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Come si è svolta l’interazione con ChatGPT per la realizzazione del SUO progetto?</a:t>
            </a:r>
            <a:br>
              <a:rPr lang="it-IT" sz="18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br>
            <a:r>
              <a:rPr lang="it-IT" sz="18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Inizialmente, è stato necessario ribadire più volte che il lavoro dovesse essere svolto autonomamente dalla chat, senza che fosse un supporto al nostro progetto. Dopo questa precisazione, abbiamo fornito le specifiche progettuali sopra menzionate e, in risposta, ChatGPT ha restituito le dimensioni della patch inferiore secondo la sua elaborazione.</a:t>
            </a:r>
            <a:endParaRPr lang="it-IT" dirty="0">
              <a:latin typeface="Times New Roman" panose="02020603050405020304" pitchFamily="18" charset="0"/>
              <a:cs typeface="Times New Roman" panose="02020603050405020304" pitchFamily="18" charset="0"/>
            </a:endParaRPr>
          </a:p>
          <a:p>
            <a:endParaRPr lang="it-IT" dirty="0"/>
          </a:p>
          <a:p>
            <a:endParaRPr lang="it-IT" dirty="0"/>
          </a:p>
          <a:p>
            <a:endParaRPr lang="it-IT" dirty="0"/>
          </a:p>
          <a:p>
            <a:endParaRPr lang="it-IT" dirty="0"/>
          </a:p>
        </p:txBody>
      </p:sp>
      <p:sp>
        <p:nvSpPr>
          <p:cNvPr id="5" name="CasellaDiTesto 4">
            <a:extLst>
              <a:ext uri="{FF2B5EF4-FFF2-40B4-BE49-F238E27FC236}">
                <a16:creationId xmlns:a16="http://schemas.microsoft.com/office/drawing/2014/main" id="{4AA65C7D-AB3E-A47C-77BD-8139D0A3235D}"/>
              </a:ext>
            </a:extLst>
          </p:cNvPr>
          <p:cNvSpPr txBox="1"/>
          <p:nvPr/>
        </p:nvSpPr>
        <p:spPr>
          <a:xfrm>
            <a:off x="619430" y="442452"/>
            <a:ext cx="9517627" cy="400110"/>
          </a:xfrm>
          <a:prstGeom prst="rect">
            <a:avLst/>
          </a:prstGeom>
          <a:noFill/>
        </p:spPr>
        <p:txBody>
          <a:bodyPr wrap="square" rtlCol="0">
            <a:spAutoFit/>
          </a:bodyPr>
          <a:lstStyle/>
          <a:p>
            <a:r>
              <a:rPr lang="it-IT" sz="2000" b="1" dirty="0"/>
              <a:t>Progetto WET gruppo 2: Silvia Gialloreto, Valerio Luzi, Massimiliano </a:t>
            </a:r>
            <a:r>
              <a:rPr lang="it-IT" sz="2000" b="1" dirty="0" err="1"/>
              <a:t>Barracu</a:t>
            </a:r>
            <a:endParaRPr lang="it-IT" sz="2000" b="1" dirty="0"/>
          </a:p>
        </p:txBody>
      </p:sp>
    </p:spTree>
    <p:extLst>
      <p:ext uri="{BB962C8B-B14F-4D97-AF65-F5344CB8AC3E}">
        <p14:creationId xmlns:p14="http://schemas.microsoft.com/office/powerpoint/2010/main" val="3998731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C9D0352C-9491-FB37-8FAE-C2114C5C9802}"/>
              </a:ext>
            </a:extLst>
          </p:cNvPr>
          <p:cNvSpPr txBox="1"/>
          <p:nvPr/>
        </p:nvSpPr>
        <p:spPr>
          <a:xfrm>
            <a:off x="471948" y="324465"/>
            <a:ext cx="11425084" cy="6081665"/>
          </a:xfrm>
          <a:prstGeom prst="rect">
            <a:avLst/>
          </a:prstGeom>
          <a:noFill/>
        </p:spPr>
        <p:txBody>
          <a:bodyPr wrap="square" rtlCol="0">
            <a:spAutoFit/>
          </a:bodyPr>
          <a:lstStyle/>
          <a:p>
            <a:pPr>
              <a:lnSpc>
                <a:spcPct val="115000"/>
              </a:lnSpc>
              <a:spcAft>
                <a:spcPts val="800"/>
              </a:spcAft>
            </a:pPr>
            <a:r>
              <a:rPr lang="it-IT" kern="100" dirty="0">
                <a:solidFill>
                  <a:srgbClr val="000000"/>
                </a:solidFill>
                <a:latin typeface="Times New Roman" panose="02020603050405020304" pitchFamily="18" charset="0"/>
                <a:cs typeface="Times New Roman" panose="02020603050405020304" pitchFamily="18" charset="0"/>
              </a:rPr>
              <a:t>Questi parametri sono stati poi inseriti nei codici MATLAB da noi già sviluppati e testati, poiché i codici generati autonomamente da ChatGPT si sono rivelati costantemente errati e inadatti. La simulazione MATLAB con i parametri suggeriti non ha prodotto risultati ottimali e i grafici generati sono stati salvati e mostrati in chat, sottolineando che derivassero esclusivamente dai dati forniti dall’IA. Osservando questi risultati, ChatGPT ha autonomamente riconosciuto che i parametri fossero inadeguati e ha proposto nuove dimensioni geometriche.</a:t>
            </a:r>
          </a:p>
          <a:p>
            <a:pPr>
              <a:lnSpc>
                <a:spcPct val="115000"/>
              </a:lnSpc>
              <a:spcAft>
                <a:spcPts val="800"/>
              </a:spcAft>
            </a:pPr>
            <a:r>
              <a:rPr lang="it-IT" kern="100" dirty="0">
                <a:solidFill>
                  <a:srgbClr val="000000"/>
                </a:solidFill>
                <a:latin typeface="Times New Roman" panose="02020603050405020304" pitchFamily="18" charset="0"/>
                <a:cs typeface="Times New Roman" panose="02020603050405020304" pitchFamily="18" charset="0"/>
              </a:rPr>
              <a:t>Il processo si è ripetuto in modo iterativo, con successive revisioni dei parametri, ma senza arrivare a una soluzione corretta. Senza fornire correzioni né influenzare ChatGPT, abbiamo poi utilizzato i parametri proposti per progettare anche la patch superiore. Tuttavia, gli errori accumulati hanno portato a ulteriori risultati errati, verificati attraverso simulazioni nei nostri codici MATLAB già validati.</a:t>
            </a:r>
          </a:p>
          <a:p>
            <a:pPr>
              <a:lnSpc>
                <a:spcPct val="115000"/>
              </a:lnSpc>
              <a:spcAft>
                <a:spcPts val="800"/>
              </a:spcAft>
            </a:pPr>
            <a:r>
              <a:rPr lang="it-IT" kern="100" dirty="0">
                <a:solidFill>
                  <a:srgbClr val="000000"/>
                </a:solidFill>
                <a:latin typeface="Times New Roman" panose="02020603050405020304" pitchFamily="18" charset="0"/>
                <a:cs typeface="Times New Roman" panose="02020603050405020304" pitchFamily="18" charset="0"/>
              </a:rPr>
              <a:t> </a:t>
            </a:r>
          </a:p>
          <a:p>
            <a:pPr>
              <a:lnSpc>
                <a:spcPct val="115000"/>
              </a:lnSpc>
              <a:spcAft>
                <a:spcPts val="800"/>
              </a:spcAft>
            </a:pPr>
            <a:r>
              <a:rPr lang="it-IT" kern="100" dirty="0">
                <a:solidFill>
                  <a:srgbClr val="000000"/>
                </a:solidFill>
                <a:latin typeface="Times New Roman" panose="02020603050405020304" pitchFamily="18" charset="0"/>
                <a:cs typeface="Times New Roman" panose="02020603050405020304" pitchFamily="18" charset="0"/>
              </a:rPr>
              <a:t>Riassumendo: è stata avviata una nuova conversazione su ChatGPT, con la richiesta esplicita di progettare l’antenna per il contesto applicativo scelto, ribadendo che il lavoro dovesse essere svolto in maniera autonoma, basandosi esclusivamente sulle ‘conoscenze’ proprie del modello.</a:t>
            </a:r>
          </a:p>
          <a:p>
            <a:pPr>
              <a:lnSpc>
                <a:spcPct val="115000"/>
              </a:lnSpc>
              <a:spcAft>
                <a:spcPts val="800"/>
              </a:spcAft>
            </a:pPr>
            <a:endParaRPr lang="it-IT" kern="100" dirty="0">
              <a:solidFill>
                <a:srgbClr val="000000"/>
              </a:solidFill>
              <a:latin typeface="Times New Roman" panose="02020603050405020304" pitchFamily="18" charset="0"/>
              <a:cs typeface="Times New Roman" panose="02020603050405020304" pitchFamily="18" charset="0"/>
            </a:endParaRPr>
          </a:p>
          <a:p>
            <a:pPr>
              <a:lnSpc>
                <a:spcPct val="115000"/>
              </a:lnSpc>
              <a:spcAft>
                <a:spcPts val="800"/>
              </a:spcAft>
            </a:pPr>
            <a:r>
              <a:rPr lang="it-IT" kern="100" dirty="0">
                <a:solidFill>
                  <a:srgbClr val="000000"/>
                </a:solidFill>
                <a:latin typeface="Times New Roman" panose="02020603050405020304" pitchFamily="18" charset="0"/>
                <a:cs typeface="Times New Roman" panose="02020603050405020304" pitchFamily="18" charset="0"/>
              </a:rPr>
              <a:t>Di seguito riportiamo il workflow sviluppato da ChatGPT, integrato con i nostri interventi nei punti in cui i grafici generati dalle simulazioni sono stati inviati al modello per aggiornarlo sui risultati derivanti dai parametri che aveva fornito. </a:t>
            </a:r>
          </a:p>
          <a:p>
            <a:endParaRPr lang="it-IT" dirty="0"/>
          </a:p>
        </p:txBody>
      </p:sp>
    </p:spTree>
    <p:extLst>
      <p:ext uri="{BB962C8B-B14F-4D97-AF65-F5344CB8AC3E}">
        <p14:creationId xmlns:p14="http://schemas.microsoft.com/office/powerpoint/2010/main" val="687511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a:hlinkClick r:id="rId2" action="ppaction://hlinksldjump"/>
            <a:extLst>
              <a:ext uri="{FF2B5EF4-FFF2-40B4-BE49-F238E27FC236}">
                <a16:creationId xmlns:a16="http://schemas.microsoft.com/office/drawing/2014/main" id="{63A8C66A-3EAA-526B-9D0E-B928A9346B66}"/>
              </a:ext>
            </a:extLst>
          </p:cNvPr>
          <p:cNvSpPr/>
          <p:nvPr/>
        </p:nvSpPr>
        <p:spPr>
          <a:xfrm>
            <a:off x="860320" y="554049"/>
            <a:ext cx="1976284" cy="943897"/>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err="1">
                <a:latin typeface="Times New Roman" panose="02020603050405020304" pitchFamily="18" charset="0"/>
                <a:cs typeface="Times New Roman" panose="02020603050405020304" pitchFamily="18" charset="0"/>
              </a:rPr>
              <a:t>Problem</a:t>
            </a:r>
            <a:r>
              <a:rPr lang="it-IT" dirty="0">
                <a:latin typeface="Times New Roman" panose="02020603050405020304" pitchFamily="18" charset="0"/>
                <a:cs typeface="Times New Roman" panose="02020603050405020304" pitchFamily="18" charset="0"/>
              </a:rPr>
              <a:t> input</a:t>
            </a:r>
          </a:p>
        </p:txBody>
      </p:sp>
      <p:sp>
        <p:nvSpPr>
          <p:cNvPr id="6" name="Freccia a destra 5">
            <a:extLst>
              <a:ext uri="{FF2B5EF4-FFF2-40B4-BE49-F238E27FC236}">
                <a16:creationId xmlns:a16="http://schemas.microsoft.com/office/drawing/2014/main" id="{C1B6BB12-0001-B0BD-F690-7E2E4FB499F2}"/>
              </a:ext>
            </a:extLst>
          </p:cNvPr>
          <p:cNvSpPr/>
          <p:nvPr/>
        </p:nvSpPr>
        <p:spPr>
          <a:xfrm>
            <a:off x="3097161" y="885207"/>
            <a:ext cx="796415" cy="275303"/>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Times New Roman" panose="02020603050405020304" pitchFamily="18" charset="0"/>
              <a:cs typeface="Times New Roman" panose="02020603050405020304" pitchFamily="18" charset="0"/>
            </a:endParaRPr>
          </a:p>
        </p:txBody>
      </p:sp>
      <p:sp>
        <p:nvSpPr>
          <p:cNvPr id="7" name="Rettangolo 6">
            <a:hlinkClick r:id="rId3" action="ppaction://hlinksldjump"/>
            <a:extLst>
              <a:ext uri="{FF2B5EF4-FFF2-40B4-BE49-F238E27FC236}">
                <a16:creationId xmlns:a16="http://schemas.microsoft.com/office/drawing/2014/main" id="{23CF2BC9-B4AC-5ABE-2BED-F380D210F4AA}"/>
              </a:ext>
            </a:extLst>
          </p:cNvPr>
          <p:cNvSpPr/>
          <p:nvPr/>
        </p:nvSpPr>
        <p:spPr>
          <a:xfrm>
            <a:off x="4107427" y="509803"/>
            <a:ext cx="1976284" cy="10323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err="1">
                <a:latin typeface="Times New Roman" panose="02020603050405020304" pitchFamily="18" charset="0"/>
                <a:cs typeface="Times New Roman" panose="02020603050405020304" pitchFamily="18" charset="0"/>
              </a:rPr>
              <a:t>Geometric</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parameters</a:t>
            </a:r>
            <a:r>
              <a:rPr lang="it-IT" dirty="0">
                <a:latin typeface="Times New Roman" panose="02020603050405020304" pitchFamily="18" charset="0"/>
                <a:cs typeface="Times New Roman" panose="02020603050405020304" pitchFamily="18" charset="0"/>
              </a:rPr>
              <a:t> (single patch)</a:t>
            </a:r>
          </a:p>
        </p:txBody>
      </p:sp>
      <p:sp>
        <p:nvSpPr>
          <p:cNvPr id="8" name="Freccia a destra 7">
            <a:extLst>
              <a:ext uri="{FF2B5EF4-FFF2-40B4-BE49-F238E27FC236}">
                <a16:creationId xmlns:a16="http://schemas.microsoft.com/office/drawing/2014/main" id="{EFBBFC83-FD02-E970-C9ED-1CA38BDA2FED}"/>
              </a:ext>
            </a:extLst>
          </p:cNvPr>
          <p:cNvSpPr/>
          <p:nvPr/>
        </p:nvSpPr>
        <p:spPr>
          <a:xfrm>
            <a:off x="6410634" y="999695"/>
            <a:ext cx="747250" cy="22933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Times New Roman" panose="02020603050405020304" pitchFamily="18" charset="0"/>
              <a:cs typeface="Times New Roman" panose="02020603050405020304" pitchFamily="18" charset="0"/>
            </a:endParaRPr>
          </a:p>
        </p:txBody>
      </p:sp>
      <p:sp>
        <p:nvSpPr>
          <p:cNvPr id="9" name="Rettangolo 8">
            <a:extLst>
              <a:ext uri="{FF2B5EF4-FFF2-40B4-BE49-F238E27FC236}">
                <a16:creationId xmlns:a16="http://schemas.microsoft.com/office/drawing/2014/main" id="{28F24052-A0AC-A932-E8D9-192EC3DB5540}"/>
              </a:ext>
            </a:extLst>
          </p:cNvPr>
          <p:cNvSpPr/>
          <p:nvPr/>
        </p:nvSpPr>
        <p:spPr>
          <a:xfrm>
            <a:off x="7374196" y="363794"/>
            <a:ext cx="2182760" cy="1310258"/>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latin typeface="Times New Roman" panose="02020603050405020304" pitchFamily="18" charset="0"/>
                <a:cs typeface="Times New Roman" panose="02020603050405020304" pitchFamily="18" charset="0"/>
              </a:rPr>
              <a:t>Performance </a:t>
            </a:r>
            <a:r>
              <a:rPr lang="it-IT" dirty="0" err="1">
                <a:latin typeface="Times New Roman" panose="02020603050405020304" pitchFamily="18" charset="0"/>
                <a:cs typeface="Times New Roman" panose="02020603050405020304" pitchFamily="18" charset="0"/>
              </a:rPr>
              <a:t>evaluation</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through</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simulations</a:t>
            </a:r>
            <a:r>
              <a:rPr lang="it-IT" dirty="0">
                <a:latin typeface="Times New Roman" panose="02020603050405020304" pitchFamily="18" charset="0"/>
                <a:cs typeface="Times New Roman" panose="02020603050405020304" pitchFamily="18" charset="0"/>
              </a:rPr>
              <a:t> with Matlab</a:t>
            </a:r>
          </a:p>
        </p:txBody>
      </p:sp>
      <p:sp>
        <p:nvSpPr>
          <p:cNvPr id="10" name="Freccia in giù 9">
            <a:extLst>
              <a:ext uri="{FF2B5EF4-FFF2-40B4-BE49-F238E27FC236}">
                <a16:creationId xmlns:a16="http://schemas.microsoft.com/office/drawing/2014/main" id="{8D15294E-DF56-142F-B7D0-7DDAD2F01D74}"/>
              </a:ext>
            </a:extLst>
          </p:cNvPr>
          <p:cNvSpPr/>
          <p:nvPr/>
        </p:nvSpPr>
        <p:spPr>
          <a:xfrm>
            <a:off x="8445913" y="1945441"/>
            <a:ext cx="226142" cy="778094"/>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latin typeface="Times New Roman" panose="02020603050405020304" pitchFamily="18" charset="0"/>
              <a:cs typeface="Times New Roman" panose="02020603050405020304" pitchFamily="18" charset="0"/>
            </a:endParaRPr>
          </a:p>
        </p:txBody>
      </p:sp>
      <p:sp>
        <p:nvSpPr>
          <p:cNvPr id="11" name="Rettangolo 10">
            <a:extLst>
              <a:ext uri="{FF2B5EF4-FFF2-40B4-BE49-F238E27FC236}">
                <a16:creationId xmlns:a16="http://schemas.microsoft.com/office/drawing/2014/main" id="{440A9481-1B53-95B7-4BBC-D9EAB625F1A5}"/>
              </a:ext>
            </a:extLst>
          </p:cNvPr>
          <p:cNvSpPr/>
          <p:nvPr/>
        </p:nvSpPr>
        <p:spPr>
          <a:xfrm>
            <a:off x="7629835" y="2967996"/>
            <a:ext cx="2182761" cy="1065326"/>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err="1">
                <a:latin typeface="Times New Roman" panose="02020603050405020304" pitchFamily="18" charset="0"/>
                <a:cs typeface="Times New Roman" panose="02020603050405020304" pitchFamily="18" charset="0"/>
              </a:rPr>
              <a:t>Insertion</a:t>
            </a:r>
            <a:r>
              <a:rPr lang="it-IT" dirty="0">
                <a:latin typeface="Times New Roman" panose="02020603050405020304" pitchFamily="18" charset="0"/>
                <a:cs typeface="Times New Roman" panose="02020603050405020304" pitchFamily="18" charset="0"/>
              </a:rPr>
              <a:t> of the </a:t>
            </a:r>
            <a:r>
              <a:rPr lang="it-IT" dirty="0" err="1">
                <a:latin typeface="Times New Roman" panose="02020603050405020304" pitchFamily="18" charset="0"/>
                <a:cs typeface="Times New Roman" panose="02020603050405020304" pitchFamily="18" charset="0"/>
              </a:rPr>
              <a:t>resulting</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graphs</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into</a:t>
            </a:r>
            <a:r>
              <a:rPr lang="it-IT" dirty="0">
                <a:latin typeface="Times New Roman" panose="02020603050405020304" pitchFamily="18" charset="0"/>
                <a:cs typeface="Times New Roman" panose="02020603050405020304" pitchFamily="18" charset="0"/>
              </a:rPr>
              <a:t> the chat</a:t>
            </a:r>
          </a:p>
        </p:txBody>
      </p:sp>
      <p:sp>
        <p:nvSpPr>
          <p:cNvPr id="14" name="Freccia a sinistra 13">
            <a:extLst>
              <a:ext uri="{FF2B5EF4-FFF2-40B4-BE49-F238E27FC236}">
                <a16:creationId xmlns:a16="http://schemas.microsoft.com/office/drawing/2014/main" id="{75B0FD37-1CA0-E5E3-C8C2-FED9213F6771}"/>
              </a:ext>
            </a:extLst>
          </p:cNvPr>
          <p:cNvSpPr/>
          <p:nvPr/>
        </p:nvSpPr>
        <p:spPr>
          <a:xfrm>
            <a:off x="6528619" y="3454992"/>
            <a:ext cx="1052051" cy="229337"/>
          </a:xfrm>
          <a:prstGeom prst="lef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Times New Roman" panose="02020603050405020304" pitchFamily="18" charset="0"/>
              <a:cs typeface="Times New Roman" panose="02020603050405020304" pitchFamily="18" charset="0"/>
            </a:endParaRPr>
          </a:p>
        </p:txBody>
      </p:sp>
      <p:sp>
        <p:nvSpPr>
          <p:cNvPr id="15" name="Rombo 14">
            <a:hlinkClick r:id="rId4" action="ppaction://hlinksldjump"/>
            <a:extLst>
              <a:ext uri="{FF2B5EF4-FFF2-40B4-BE49-F238E27FC236}">
                <a16:creationId xmlns:a16="http://schemas.microsoft.com/office/drawing/2014/main" id="{591EDC13-735F-FC10-7861-B8498CBA1DCE}"/>
              </a:ext>
            </a:extLst>
          </p:cNvPr>
          <p:cNvSpPr/>
          <p:nvPr/>
        </p:nvSpPr>
        <p:spPr>
          <a:xfrm>
            <a:off x="3701842" y="2569167"/>
            <a:ext cx="2708791" cy="2051994"/>
          </a:xfrm>
          <a:prstGeom prst="diamond">
            <a:avLst/>
          </a:prstGeom>
          <a:solidFill>
            <a:srgbClr val="1560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err="1">
                <a:latin typeface="Times New Roman" panose="02020603050405020304" pitchFamily="18" charset="0"/>
                <a:cs typeface="Times New Roman" panose="02020603050405020304" pitchFamily="18" charset="0"/>
              </a:rPr>
              <a:t>Graphs</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evaluation.Good</a:t>
            </a:r>
            <a:r>
              <a:rPr lang="it-IT" dirty="0">
                <a:latin typeface="Times New Roman" panose="02020603050405020304" pitchFamily="18" charset="0"/>
                <a:cs typeface="Times New Roman" panose="02020603050405020304" pitchFamily="18" charset="0"/>
              </a:rPr>
              <a:t> performance?</a:t>
            </a:r>
          </a:p>
        </p:txBody>
      </p:sp>
      <p:sp>
        <p:nvSpPr>
          <p:cNvPr id="16" name="Freccia in su 15">
            <a:extLst>
              <a:ext uri="{FF2B5EF4-FFF2-40B4-BE49-F238E27FC236}">
                <a16:creationId xmlns:a16="http://schemas.microsoft.com/office/drawing/2014/main" id="{89C09D46-96C8-5792-2ADD-92F5A97D9438}"/>
              </a:ext>
            </a:extLst>
          </p:cNvPr>
          <p:cNvSpPr/>
          <p:nvPr/>
        </p:nvSpPr>
        <p:spPr>
          <a:xfrm>
            <a:off x="4869426" y="1674052"/>
            <a:ext cx="277760" cy="735212"/>
          </a:xfrm>
          <a:prstGeom prst="up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Times New Roman" panose="02020603050405020304" pitchFamily="18" charset="0"/>
              <a:cs typeface="Times New Roman" panose="02020603050405020304" pitchFamily="18" charset="0"/>
            </a:endParaRPr>
          </a:p>
        </p:txBody>
      </p:sp>
      <p:sp>
        <p:nvSpPr>
          <p:cNvPr id="17" name="CasellaDiTesto 16">
            <a:extLst>
              <a:ext uri="{FF2B5EF4-FFF2-40B4-BE49-F238E27FC236}">
                <a16:creationId xmlns:a16="http://schemas.microsoft.com/office/drawing/2014/main" id="{39759E47-5BBB-278F-5C8D-F1BBB751ACD9}"/>
              </a:ext>
            </a:extLst>
          </p:cNvPr>
          <p:cNvSpPr txBox="1"/>
          <p:nvPr/>
        </p:nvSpPr>
        <p:spPr>
          <a:xfrm>
            <a:off x="5147186" y="1927795"/>
            <a:ext cx="678426" cy="400110"/>
          </a:xfrm>
          <a:prstGeom prst="rect">
            <a:avLst/>
          </a:prstGeom>
          <a:noFill/>
        </p:spPr>
        <p:txBody>
          <a:bodyPr wrap="square" rtlCol="0">
            <a:spAutoFit/>
          </a:bodyPr>
          <a:lstStyle/>
          <a:p>
            <a:r>
              <a:rPr lang="it-IT" sz="2000" b="1" dirty="0">
                <a:latin typeface="Times New Roman" panose="02020603050405020304" pitchFamily="18" charset="0"/>
                <a:cs typeface="Times New Roman" panose="02020603050405020304" pitchFamily="18" charset="0"/>
              </a:rPr>
              <a:t>NO</a:t>
            </a:r>
          </a:p>
        </p:txBody>
      </p:sp>
      <p:sp>
        <p:nvSpPr>
          <p:cNvPr id="18" name="Freccia a sinistra 17">
            <a:extLst>
              <a:ext uri="{FF2B5EF4-FFF2-40B4-BE49-F238E27FC236}">
                <a16:creationId xmlns:a16="http://schemas.microsoft.com/office/drawing/2014/main" id="{4B694C1C-3468-25A9-D6D0-0B0A352E55C0}"/>
              </a:ext>
            </a:extLst>
          </p:cNvPr>
          <p:cNvSpPr/>
          <p:nvPr/>
        </p:nvSpPr>
        <p:spPr>
          <a:xfrm>
            <a:off x="2816940" y="3454992"/>
            <a:ext cx="766916" cy="275303"/>
          </a:xfrm>
          <a:prstGeom prst="leftArrow">
            <a:avLst>
              <a:gd name="adj1" fmla="val 50000"/>
              <a:gd name="adj2" fmla="val 46428"/>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Times New Roman" panose="02020603050405020304" pitchFamily="18" charset="0"/>
              <a:cs typeface="Times New Roman" panose="02020603050405020304" pitchFamily="18" charset="0"/>
            </a:endParaRPr>
          </a:p>
        </p:txBody>
      </p:sp>
      <p:sp>
        <p:nvSpPr>
          <p:cNvPr id="19" name="CasellaDiTesto 18">
            <a:extLst>
              <a:ext uri="{FF2B5EF4-FFF2-40B4-BE49-F238E27FC236}">
                <a16:creationId xmlns:a16="http://schemas.microsoft.com/office/drawing/2014/main" id="{73F6C3EA-1B6C-1819-7E5A-0F900D3464D4}"/>
              </a:ext>
            </a:extLst>
          </p:cNvPr>
          <p:cNvSpPr txBox="1"/>
          <p:nvPr/>
        </p:nvSpPr>
        <p:spPr>
          <a:xfrm>
            <a:off x="2930008" y="3100549"/>
            <a:ext cx="747252" cy="400110"/>
          </a:xfrm>
          <a:prstGeom prst="rect">
            <a:avLst/>
          </a:prstGeom>
          <a:noFill/>
        </p:spPr>
        <p:txBody>
          <a:bodyPr wrap="square" rtlCol="0">
            <a:spAutoFit/>
          </a:bodyPr>
          <a:lstStyle/>
          <a:p>
            <a:r>
              <a:rPr lang="it-IT" sz="2000" b="1" dirty="0">
                <a:latin typeface="Times New Roman" panose="02020603050405020304" pitchFamily="18" charset="0"/>
                <a:cs typeface="Times New Roman" panose="02020603050405020304" pitchFamily="18" charset="0"/>
              </a:rPr>
              <a:t>YES</a:t>
            </a:r>
          </a:p>
        </p:txBody>
      </p:sp>
      <p:sp>
        <p:nvSpPr>
          <p:cNvPr id="20" name="Rettangolo 19">
            <a:extLst>
              <a:ext uri="{FF2B5EF4-FFF2-40B4-BE49-F238E27FC236}">
                <a16:creationId xmlns:a16="http://schemas.microsoft.com/office/drawing/2014/main" id="{7676430D-9F04-232A-349B-D6CC7909FB2A}"/>
              </a:ext>
            </a:extLst>
          </p:cNvPr>
          <p:cNvSpPr/>
          <p:nvPr/>
        </p:nvSpPr>
        <p:spPr>
          <a:xfrm>
            <a:off x="722671" y="2880424"/>
            <a:ext cx="1976283" cy="14881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latin typeface="Times New Roman" panose="02020603050405020304" pitchFamily="18" charset="0"/>
                <a:cs typeface="Times New Roman" panose="02020603050405020304" pitchFamily="18" charset="0"/>
              </a:rPr>
              <a:t>‘</a:t>
            </a:r>
            <a:r>
              <a:rPr lang="it-IT" dirty="0" err="1">
                <a:latin typeface="Times New Roman" panose="02020603050405020304" pitchFamily="18" charset="0"/>
                <a:cs typeface="Times New Roman" panose="02020603050405020304" pitchFamily="18" charset="0"/>
              </a:rPr>
              <a:t>Optimazed</a:t>
            </a:r>
            <a:r>
              <a:rPr lang="it-IT" dirty="0">
                <a:latin typeface="Times New Roman" panose="02020603050405020304" pitchFamily="18" charset="0"/>
                <a:cs typeface="Times New Roman" panose="02020603050405020304" pitchFamily="18" charset="0"/>
              </a:rPr>
              <a:t>’ patch with </a:t>
            </a:r>
            <a:r>
              <a:rPr lang="it-IT" dirty="0" err="1">
                <a:latin typeface="Times New Roman" panose="02020603050405020304" pitchFamily="18" charset="0"/>
                <a:cs typeface="Times New Roman" panose="02020603050405020304" pitchFamily="18" charset="0"/>
              </a:rPr>
              <a:t>better</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parameters</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incorrect</a:t>
            </a:r>
            <a:r>
              <a:rPr lang="it-IT" dirty="0">
                <a:latin typeface="Times New Roman" panose="02020603050405020304" pitchFamily="18" charset="0"/>
                <a:cs typeface="Times New Roman" panose="02020603050405020304" pitchFamily="18" charset="0"/>
              </a:rPr>
              <a:t>)</a:t>
            </a:r>
          </a:p>
        </p:txBody>
      </p:sp>
      <p:sp>
        <p:nvSpPr>
          <p:cNvPr id="21" name="Freccia in giù 20">
            <a:extLst>
              <a:ext uri="{FF2B5EF4-FFF2-40B4-BE49-F238E27FC236}">
                <a16:creationId xmlns:a16="http://schemas.microsoft.com/office/drawing/2014/main" id="{B5021008-680B-2554-7E7B-591CBE2D3781}"/>
              </a:ext>
            </a:extLst>
          </p:cNvPr>
          <p:cNvSpPr/>
          <p:nvPr/>
        </p:nvSpPr>
        <p:spPr>
          <a:xfrm>
            <a:off x="1511708" y="4478593"/>
            <a:ext cx="255639" cy="570271"/>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Times New Roman" panose="02020603050405020304" pitchFamily="18" charset="0"/>
              <a:cs typeface="Times New Roman" panose="02020603050405020304" pitchFamily="18" charset="0"/>
            </a:endParaRPr>
          </a:p>
        </p:txBody>
      </p:sp>
      <p:sp>
        <p:nvSpPr>
          <p:cNvPr id="22" name="Rettangolo 21">
            <a:hlinkClick r:id="rId5" action="ppaction://hlinksldjump"/>
            <a:extLst>
              <a:ext uri="{FF2B5EF4-FFF2-40B4-BE49-F238E27FC236}">
                <a16:creationId xmlns:a16="http://schemas.microsoft.com/office/drawing/2014/main" id="{AE6A90AA-7BAA-C3EC-4649-09ECAF83FFD9}"/>
              </a:ext>
            </a:extLst>
          </p:cNvPr>
          <p:cNvSpPr/>
          <p:nvPr/>
        </p:nvSpPr>
        <p:spPr>
          <a:xfrm>
            <a:off x="668594" y="5112773"/>
            <a:ext cx="2168010" cy="11911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latin typeface="Times New Roman" panose="02020603050405020304" pitchFamily="18" charset="0"/>
                <a:cs typeface="Times New Roman" panose="02020603050405020304" pitchFamily="18" charset="0"/>
              </a:rPr>
              <a:t>Upper patch </a:t>
            </a:r>
            <a:r>
              <a:rPr lang="it-IT" dirty="0" err="1">
                <a:latin typeface="Times New Roman" panose="02020603050405020304" pitchFamily="18" charset="0"/>
                <a:cs typeface="Times New Roman" panose="02020603050405020304" pitchFamily="18" charset="0"/>
              </a:rPr>
              <a:t>parameters</a:t>
            </a:r>
            <a:r>
              <a:rPr lang="it-IT" dirty="0">
                <a:latin typeface="Times New Roman" panose="02020603050405020304" pitchFamily="18" charset="0"/>
                <a:cs typeface="Times New Roman" panose="02020603050405020304" pitchFamily="18" charset="0"/>
              </a:rPr>
              <a:t> </a:t>
            </a:r>
          </a:p>
        </p:txBody>
      </p:sp>
      <p:sp>
        <p:nvSpPr>
          <p:cNvPr id="26" name="Freccia a destra 25">
            <a:extLst>
              <a:ext uri="{FF2B5EF4-FFF2-40B4-BE49-F238E27FC236}">
                <a16:creationId xmlns:a16="http://schemas.microsoft.com/office/drawing/2014/main" id="{2CE26113-4587-94C1-E826-C4118D48A036}"/>
              </a:ext>
            </a:extLst>
          </p:cNvPr>
          <p:cNvSpPr/>
          <p:nvPr/>
        </p:nvSpPr>
        <p:spPr>
          <a:xfrm>
            <a:off x="3097161" y="5604387"/>
            <a:ext cx="766916" cy="275303"/>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Times New Roman" panose="02020603050405020304" pitchFamily="18" charset="0"/>
              <a:cs typeface="Times New Roman" panose="02020603050405020304" pitchFamily="18" charset="0"/>
            </a:endParaRPr>
          </a:p>
        </p:txBody>
      </p:sp>
      <p:sp>
        <p:nvSpPr>
          <p:cNvPr id="27" name="Rettangolo 26">
            <a:hlinkClick r:id="rId6" action="ppaction://hlinksldjump"/>
            <a:extLst>
              <a:ext uri="{FF2B5EF4-FFF2-40B4-BE49-F238E27FC236}">
                <a16:creationId xmlns:a16="http://schemas.microsoft.com/office/drawing/2014/main" id="{E5374784-55C8-E7E2-13ED-FE8C3A478174}"/>
              </a:ext>
            </a:extLst>
          </p:cNvPr>
          <p:cNvSpPr/>
          <p:nvPr/>
        </p:nvSpPr>
        <p:spPr>
          <a:xfrm>
            <a:off x="3996813" y="5112773"/>
            <a:ext cx="2440859" cy="1102686"/>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err="1">
                <a:latin typeface="Times New Roman" panose="02020603050405020304" pitchFamily="18" charset="0"/>
                <a:cs typeface="Times New Roman" panose="02020603050405020304" pitchFamily="18" charset="0"/>
              </a:rPr>
              <a:t>Analogous</a:t>
            </a:r>
            <a:r>
              <a:rPr lang="it-IT" dirty="0">
                <a:latin typeface="Times New Roman" panose="02020603050405020304" pitchFamily="18" charset="0"/>
                <a:cs typeface="Times New Roman" panose="02020603050405020304" pitchFamily="18" charset="0"/>
              </a:rPr>
              <a:t> iterative </a:t>
            </a:r>
            <a:r>
              <a:rPr lang="it-IT" dirty="0" err="1">
                <a:latin typeface="Times New Roman" panose="02020603050405020304" pitchFamily="18" charset="0"/>
                <a:cs typeface="Times New Roman" panose="02020603050405020304" pitchFamily="18" charset="0"/>
              </a:rPr>
              <a:t>process</a:t>
            </a:r>
            <a:endParaRPr lang="it-IT" dirty="0">
              <a:latin typeface="Times New Roman" panose="02020603050405020304" pitchFamily="18" charset="0"/>
              <a:cs typeface="Times New Roman" panose="02020603050405020304" pitchFamily="18" charset="0"/>
            </a:endParaRPr>
          </a:p>
        </p:txBody>
      </p:sp>
      <p:sp>
        <p:nvSpPr>
          <p:cNvPr id="32" name="Rettangolo 31">
            <a:extLst>
              <a:ext uri="{FF2B5EF4-FFF2-40B4-BE49-F238E27FC236}">
                <a16:creationId xmlns:a16="http://schemas.microsoft.com/office/drawing/2014/main" id="{F320629B-E545-6FF8-2AE1-5228B375994A}"/>
              </a:ext>
            </a:extLst>
          </p:cNvPr>
          <p:cNvSpPr/>
          <p:nvPr/>
        </p:nvSpPr>
        <p:spPr>
          <a:xfrm>
            <a:off x="9114503" y="5506063"/>
            <a:ext cx="324465" cy="304801"/>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Times New Roman" panose="02020603050405020304" pitchFamily="18" charset="0"/>
              <a:cs typeface="Times New Roman" panose="02020603050405020304" pitchFamily="18" charset="0"/>
            </a:endParaRPr>
          </a:p>
        </p:txBody>
      </p:sp>
      <p:sp>
        <p:nvSpPr>
          <p:cNvPr id="33" name="Rettangolo 32">
            <a:extLst>
              <a:ext uri="{FF2B5EF4-FFF2-40B4-BE49-F238E27FC236}">
                <a16:creationId xmlns:a16="http://schemas.microsoft.com/office/drawing/2014/main" id="{0606DC3F-5A79-33F4-A8E7-6D817AEA8F20}"/>
              </a:ext>
            </a:extLst>
          </p:cNvPr>
          <p:cNvSpPr/>
          <p:nvPr/>
        </p:nvSpPr>
        <p:spPr>
          <a:xfrm>
            <a:off x="9114503" y="5959082"/>
            <a:ext cx="324465" cy="3048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Times New Roman" panose="02020603050405020304" pitchFamily="18" charset="0"/>
              <a:cs typeface="Times New Roman" panose="02020603050405020304" pitchFamily="18" charset="0"/>
            </a:endParaRPr>
          </a:p>
        </p:txBody>
      </p:sp>
      <p:sp>
        <p:nvSpPr>
          <p:cNvPr id="35" name="CasellaDiTesto 34">
            <a:extLst>
              <a:ext uri="{FF2B5EF4-FFF2-40B4-BE49-F238E27FC236}">
                <a16:creationId xmlns:a16="http://schemas.microsoft.com/office/drawing/2014/main" id="{A711E450-675F-601A-9C54-29B4082CEF33}"/>
              </a:ext>
            </a:extLst>
          </p:cNvPr>
          <p:cNvSpPr txBox="1"/>
          <p:nvPr/>
        </p:nvSpPr>
        <p:spPr>
          <a:xfrm>
            <a:off x="9596284" y="5506063"/>
            <a:ext cx="2182761" cy="369332"/>
          </a:xfrm>
          <a:prstGeom prst="rect">
            <a:avLst/>
          </a:prstGeom>
          <a:noFill/>
        </p:spPr>
        <p:txBody>
          <a:bodyPr wrap="square" rtlCol="0">
            <a:spAutoFit/>
          </a:bodyPr>
          <a:lstStyle/>
          <a:p>
            <a:r>
              <a:rPr lang="it-IT" dirty="0">
                <a:latin typeface="Times New Roman" panose="02020603050405020304" pitchFamily="18" charset="0"/>
                <a:cs typeface="Times New Roman" panose="02020603050405020304" pitchFamily="18" charset="0"/>
              </a:rPr>
              <a:t>Human </a:t>
            </a:r>
            <a:r>
              <a:rPr lang="it-IT" dirty="0" err="1">
                <a:latin typeface="Times New Roman" panose="02020603050405020304" pitchFamily="18" charset="0"/>
                <a:cs typeface="Times New Roman" panose="02020603050405020304" pitchFamily="18" charset="0"/>
              </a:rPr>
              <a:t>intervention</a:t>
            </a:r>
            <a:endParaRPr lang="it-IT" dirty="0">
              <a:latin typeface="Times New Roman" panose="02020603050405020304" pitchFamily="18" charset="0"/>
              <a:cs typeface="Times New Roman" panose="02020603050405020304" pitchFamily="18" charset="0"/>
            </a:endParaRPr>
          </a:p>
        </p:txBody>
      </p:sp>
      <p:sp>
        <p:nvSpPr>
          <p:cNvPr id="36" name="CasellaDiTesto 35">
            <a:extLst>
              <a:ext uri="{FF2B5EF4-FFF2-40B4-BE49-F238E27FC236}">
                <a16:creationId xmlns:a16="http://schemas.microsoft.com/office/drawing/2014/main" id="{AAF43FFD-82DA-FB27-38B0-ABA5DEF171E5}"/>
              </a:ext>
            </a:extLst>
          </p:cNvPr>
          <p:cNvSpPr txBox="1"/>
          <p:nvPr/>
        </p:nvSpPr>
        <p:spPr>
          <a:xfrm>
            <a:off x="9635613" y="5926816"/>
            <a:ext cx="2182761" cy="369332"/>
          </a:xfrm>
          <a:prstGeom prst="rect">
            <a:avLst/>
          </a:prstGeom>
          <a:noFill/>
        </p:spPr>
        <p:txBody>
          <a:bodyPr wrap="square" rtlCol="0">
            <a:spAutoFit/>
          </a:bodyPr>
          <a:lstStyle/>
          <a:p>
            <a:r>
              <a:rPr lang="it-IT" dirty="0" err="1">
                <a:latin typeface="Times New Roman" panose="02020603050405020304" pitchFamily="18" charset="0"/>
                <a:cs typeface="Times New Roman" panose="02020603050405020304" pitchFamily="18" charset="0"/>
              </a:rPr>
              <a:t>chatGPT</a:t>
            </a:r>
            <a:endParaRPr lang="it-IT"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6620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C364A"/>
        </a:solidFill>
        <a:effectLst/>
      </p:bgPr>
    </p:bg>
    <p:spTree>
      <p:nvGrpSpPr>
        <p:cNvPr id="1" name=""/>
        <p:cNvGrpSpPr/>
        <p:nvPr/>
      </p:nvGrpSpPr>
      <p:grpSpPr>
        <a:xfrm>
          <a:off x="0" y="0"/>
          <a:ext cx="0" cy="0"/>
          <a:chOff x="0" y="0"/>
          <a:chExt cx="0" cy="0"/>
        </a:xfrm>
      </p:grpSpPr>
      <p:sp useBgFill="1">
        <p:nvSpPr>
          <p:cNvPr id="64" name="Rectangle 39">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5" name="Rectangle 41">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43">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45">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47">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olo 7">
            <a:extLst>
              <a:ext uri="{FF2B5EF4-FFF2-40B4-BE49-F238E27FC236}">
                <a16:creationId xmlns:a16="http://schemas.microsoft.com/office/drawing/2014/main" id="{C3D0C037-1EB2-73E4-6EDB-B2B8ED3E0E29}"/>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a:solidFill>
                  <a:srgbClr val="FFFFFF"/>
                </a:solidFill>
              </a:rPr>
              <a:t>INPUT</a:t>
            </a:r>
          </a:p>
        </p:txBody>
      </p:sp>
      <p:pic>
        <p:nvPicPr>
          <p:cNvPr id="35" name="Immagine 34" descr="Immagine che contiene testo, schermata, Carattere, lettera&#10;&#10;Descrizione generata automaticamente">
            <a:extLst>
              <a:ext uri="{FF2B5EF4-FFF2-40B4-BE49-F238E27FC236}">
                <a16:creationId xmlns:a16="http://schemas.microsoft.com/office/drawing/2014/main" id="{078BDE9E-3783-D8BF-D3E2-D526276F6B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7404" y="293364"/>
            <a:ext cx="4658605" cy="6211475"/>
          </a:xfrm>
          <a:prstGeom prst="rect">
            <a:avLst/>
          </a:prstGeom>
        </p:spPr>
      </p:pic>
      <p:pic>
        <p:nvPicPr>
          <p:cNvPr id="23" name="Segnaposto contenuto 22" descr="Immagine che contiene testo, schermata, Carattere, documento&#10;&#10;Descrizione generata automaticamente">
            <a:extLst>
              <a:ext uri="{FF2B5EF4-FFF2-40B4-BE49-F238E27FC236}">
                <a16:creationId xmlns:a16="http://schemas.microsoft.com/office/drawing/2014/main" id="{FD0A37C5-C838-5949-0164-C935ECECC3EC}"/>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7358339" y="293363"/>
            <a:ext cx="4658606" cy="6211475"/>
          </a:xfrm>
          <a:prstGeom prst="rect">
            <a:avLst/>
          </a:prstGeom>
        </p:spPr>
      </p:pic>
      <p:sp>
        <p:nvSpPr>
          <p:cNvPr id="36" name="Pulsante di azione: Home 35">
            <a:hlinkClick r:id="rId5" action="ppaction://hlinksldjump" highlightClick="1"/>
            <a:extLst>
              <a:ext uri="{FF2B5EF4-FFF2-40B4-BE49-F238E27FC236}">
                <a16:creationId xmlns:a16="http://schemas.microsoft.com/office/drawing/2014/main" id="{7096DB7C-F60C-93B0-F179-838DFAFE402A}"/>
              </a:ext>
            </a:extLst>
          </p:cNvPr>
          <p:cNvSpPr/>
          <p:nvPr/>
        </p:nvSpPr>
        <p:spPr>
          <a:xfrm>
            <a:off x="334297" y="5928851"/>
            <a:ext cx="924232" cy="776749"/>
          </a:xfrm>
          <a:prstGeom prst="actionButtonHom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325689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C364A"/>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 name="Rectangle 13">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EC95C894-4BE4-A542-6573-F9371320865A}"/>
              </a:ext>
            </a:extLst>
          </p:cNvPr>
          <p:cNvSpPr>
            <a:spLocks noGrp="1"/>
          </p:cNvSpPr>
          <p:nvPr>
            <p:ph type="title"/>
          </p:nvPr>
        </p:nvSpPr>
        <p:spPr>
          <a:xfrm>
            <a:off x="391449" y="242305"/>
            <a:ext cx="2627390" cy="1465592"/>
          </a:xfrm>
        </p:spPr>
        <p:txBody>
          <a:bodyPr vert="horz" lIns="91440" tIns="45720" rIns="91440" bIns="45720" rtlCol="0" anchor="ctr">
            <a:normAutofit/>
          </a:bodyPr>
          <a:lstStyle/>
          <a:p>
            <a:r>
              <a:rPr lang="en-US" sz="4000" dirty="0" err="1">
                <a:solidFill>
                  <a:srgbClr val="FFFFFF"/>
                </a:solidFill>
              </a:rPr>
              <a:t>Parametri</a:t>
            </a:r>
            <a:r>
              <a:rPr lang="en-US" sz="4000" dirty="0">
                <a:solidFill>
                  <a:srgbClr val="FFFFFF"/>
                </a:solidFill>
              </a:rPr>
              <a:t> </a:t>
            </a:r>
            <a:r>
              <a:rPr lang="en-US" sz="4000" dirty="0" err="1">
                <a:solidFill>
                  <a:srgbClr val="FFFFFF"/>
                </a:solidFill>
              </a:rPr>
              <a:t>geometrici</a:t>
            </a:r>
            <a:endParaRPr lang="en-US" sz="4000" dirty="0">
              <a:solidFill>
                <a:srgbClr val="FFFFFF"/>
              </a:solidFill>
            </a:endParaRPr>
          </a:p>
        </p:txBody>
      </p:sp>
      <p:pic>
        <p:nvPicPr>
          <p:cNvPr id="5" name="Segnaposto contenuto 4" descr="Immagine che contiene testo, schermata, Carattere, documento&#10;&#10;Descrizione generata automaticamente">
            <a:extLst>
              <a:ext uri="{FF2B5EF4-FFF2-40B4-BE49-F238E27FC236}">
                <a16:creationId xmlns:a16="http://schemas.microsoft.com/office/drawing/2014/main" id="{56F431AB-D7F8-C566-DF8A-22D368FD8F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52466" y="658501"/>
            <a:ext cx="4464270" cy="5952361"/>
          </a:xfrm>
          <a:prstGeom prst="rect">
            <a:avLst/>
          </a:prstGeom>
        </p:spPr>
      </p:pic>
      <p:pic>
        <p:nvPicPr>
          <p:cNvPr id="7" name="Immagine 6" descr="Immagine che contiene testo, schermata, Carattere, documento&#10;&#10;Descrizione generata automaticamente">
            <a:extLst>
              <a:ext uri="{FF2B5EF4-FFF2-40B4-BE49-F238E27FC236}">
                <a16:creationId xmlns:a16="http://schemas.microsoft.com/office/drawing/2014/main" id="{66C28A91-2240-211A-AAE8-BD97C1FE44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67396" y="658501"/>
            <a:ext cx="4464270" cy="5952360"/>
          </a:xfrm>
          <a:prstGeom prst="rect">
            <a:avLst/>
          </a:prstGeom>
        </p:spPr>
      </p:pic>
      <p:sp>
        <p:nvSpPr>
          <p:cNvPr id="8" name="Pulsante di azione: Home 7">
            <a:hlinkClick r:id="rId4" action="ppaction://hlinksldjump" highlightClick="1"/>
            <a:extLst>
              <a:ext uri="{FF2B5EF4-FFF2-40B4-BE49-F238E27FC236}">
                <a16:creationId xmlns:a16="http://schemas.microsoft.com/office/drawing/2014/main" id="{8798A7A5-F1FB-47BB-E512-8C515D95B16D}"/>
              </a:ext>
            </a:extLst>
          </p:cNvPr>
          <p:cNvSpPr/>
          <p:nvPr/>
        </p:nvSpPr>
        <p:spPr>
          <a:xfrm>
            <a:off x="334297" y="5928851"/>
            <a:ext cx="924232" cy="776749"/>
          </a:xfrm>
          <a:prstGeom prst="actionButtonHom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04604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476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olo 1">
            <a:extLst>
              <a:ext uri="{FF2B5EF4-FFF2-40B4-BE49-F238E27FC236}">
                <a16:creationId xmlns:a16="http://schemas.microsoft.com/office/drawing/2014/main" id="{51FA0588-0292-BEE4-F60D-EBBA626FCC83}"/>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err="1">
                <a:solidFill>
                  <a:srgbClr val="FFFFFF"/>
                </a:solidFill>
                <a:latin typeface="+mj-lt"/>
                <a:ea typeface="+mj-ea"/>
                <a:cs typeface="+mj-cs"/>
              </a:rPr>
              <a:t>Valutazione</a:t>
            </a:r>
            <a:r>
              <a:rPr lang="en-US" sz="4000" kern="1200" dirty="0">
                <a:solidFill>
                  <a:srgbClr val="FFFFFF"/>
                </a:solidFill>
                <a:latin typeface="+mj-lt"/>
                <a:ea typeface="+mj-ea"/>
                <a:cs typeface="+mj-cs"/>
              </a:rPr>
              <a:t> </a:t>
            </a:r>
            <a:r>
              <a:rPr lang="en-US" sz="4000" kern="1200" dirty="0" err="1">
                <a:solidFill>
                  <a:srgbClr val="FFFFFF"/>
                </a:solidFill>
                <a:latin typeface="+mj-lt"/>
                <a:ea typeface="+mj-ea"/>
                <a:cs typeface="+mj-cs"/>
              </a:rPr>
              <a:t>dei</a:t>
            </a:r>
            <a:r>
              <a:rPr lang="en-US" sz="4000" kern="1200" dirty="0">
                <a:solidFill>
                  <a:srgbClr val="FFFFFF"/>
                </a:solidFill>
                <a:latin typeface="+mj-lt"/>
                <a:ea typeface="+mj-ea"/>
                <a:cs typeface="+mj-cs"/>
              </a:rPr>
              <a:t> </a:t>
            </a:r>
            <a:r>
              <a:rPr lang="en-US" sz="4000" kern="1200" dirty="0" err="1">
                <a:solidFill>
                  <a:srgbClr val="FFFFFF"/>
                </a:solidFill>
                <a:latin typeface="+mj-lt"/>
                <a:ea typeface="+mj-ea"/>
                <a:cs typeface="+mj-cs"/>
              </a:rPr>
              <a:t>grafici</a:t>
            </a:r>
            <a:r>
              <a:rPr lang="en-US" sz="4000" kern="1200" dirty="0">
                <a:solidFill>
                  <a:srgbClr val="FFFFFF"/>
                </a:solidFill>
                <a:latin typeface="+mj-lt"/>
                <a:ea typeface="+mj-ea"/>
                <a:cs typeface="+mj-cs"/>
              </a:rPr>
              <a:t>. </a:t>
            </a:r>
            <a:r>
              <a:rPr lang="en-US" sz="4000" kern="1200" dirty="0" err="1">
                <a:solidFill>
                  <a:srgbClr val="FFFFFF"/>
                </a:solidFill>
                <a:latin typeface="+mj-lt"/>
                <a:ea typeface="+mj-ea"/>
                <a:cs typeface="+mj-cs"/>
              </a:rPr>
              <a:t>Prestazioni</a:t>
            </a:r>
            <a:r>
              <a:rPr lang="en-US" sz="4000" kern="1200" dirty="0">
                <a:solidFill>
                  <a:srgbClr val="FFFFFF"/>
                </a:solidFill>
                <a:latin typeface="+mj-lt"/>
                <a:ea typeface="+mj-ea"/>
                <a:cs typeface="+mj-cs"/>
              </a:rPr>
              <a:t> </a:t>
            </a:r>
            <a:r>
              <a:rPr lang="en-US" sz="4000" kern="1200" dirty="0" err="1">
                <a:solidFill>
                  <a:srgbClr val="FFFFFF"/>
                </a:solidFill>
                <a:latin typeface="+mj-lt"/>
                <a:ea typeface="+mj-ea"/>
                <a:cs typeface="+mj-cs"/>
              </a:rPr>
              <a:t>buone</a:t>
            </a:r>
            <a:r>
              <a:rPr lang="en-US" sz="4000" kern="1200" dirty="0">
                <a:solidFill>
                  <a:srgbClr val="FFFFFF"/>
                </a:solidFill>
                <a:latin typeface="+mj-lt"/>
                <a:ea typeface="+mj-ea"/>
                <a:cs typeface="+mj-cs"/>
              </a:rPr>
              <a:t>?</a:t>
            </a:r>
            <a:br>
              <a:rPr lang="en-US" sz="4000" kern="1200" dirty="0">
                <a:solidFill>
                  <a:srgbClr val="FFFFFF"/>
                </a:solidFill>
                <a:latin typeface="+mj-lt"/>
                <a:ea typeface="+mj-ea"/>
                <a:cs typeface="+mj-cs"/>
              </a:rPr>
            </a:br>
            <a:endParaRPr lang="en-US" sz="4000" kern="1200" dirty="0">
              <a:solidFill>
                <a:srgbClr val="FFFFFF"/>
              </a:solidFill>
              <a:latin typeface="+mj-lt"/>
              <a:ea typeface="+mj-ea"/>
              <a:cs typeface="+mj-cs"/>
            </a:endParaRPr>
          </a:p>
        </p:txBody>
      </p:sp>
      <p:pic>
        <p:nvPicPr>
          <p:cNvPr id="5" name="Segnaposto contenuto 4" descr="Immagine che contiene testo, schermata, diagramma, Carattere&#10;&#10;Descrizione generata automaticamente">
            <a:extLst>
              <a:ext uri="{FF2B5EF4-FFF2-40B4-BE49-F238E27FC236}">
                <a16:creationId xmlns:a16="http://schemas.microsoft.com/office/drawing/2014/main" id="{D8A956D6-C157-9412-DA14-0AB5A4E6BD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24269" y="9123"/>
            <a:ext cx="8067732" cy="6857572"/>
          </a:xfrm>
          <a:prstGeom prst="rect">
            <a:avLst/>
          </a:prstGeom>
        </p:spPr>
      </p:pic>
      <p:sp>
        <p:nvSpPr>
          <p:cNvPr id="6" name="Pulsante di azione: Home 5">
            <a:hlinkClick r:id="rId3" action="ppaction://hlinksldjump" highlightClick="1"/>
            <a:extLst>
              <a:ext uri="{FF2B5EF4-FFF2-40B4-BE49-F238E27FC236}">
                <a16:creationId xmlns:a16="http://schemas.microsoft.com/office/drawing/2014/main" id="{11D89EC6-5C1B-B7C4-17AF-2CA3E42114F8}"/>
              </a:ext>
            </a:extLst>
          </p:cNvPr>
          <p:cNvSpPr/>
          <p:nvPr/>
        </p:nvSpPr>
        <p:spPr>
          <a:xfrm>
            <a:off x="334297" y="5928851"/>
            <a:ext cx="924232" cy="776749"/>
          </a:xfrm>
          <a:prstGeom prst="actionButtonHom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61565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3245"/>
        </a:solidFill>
        <a:effectLst/>
      </p:bgPr>
    </p:bg>
    <p:spTree>
      <p:nvGrpSpPr>
        <p:cNvPr id="1" name=""/>
        <p:cNvGrpSpPr/>
        <p:nvPr/>
      </p:nvGrpSpPr>
      <p:grpSpPr>
        <a:xfrm>
          <a:off x="0" y="0"/>
          <a:ext cx="0" cy="0"/>
          <a:chOff x="0" y="0"/>
          <a:chExt cx="0" cy="0"/>
        </a:xfrm>
      </p:grpSpPr>
      <p:sp useBgFill="1">
        <p:nvSpPr>
          <p:cNvPr id="29" name="Rectangle 11">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0" name="Rectangle 13">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15">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17">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19">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4A315A04-3004-9327-6CA9-22DA6BAFED75}"/>
              </a:ext>
            </a:extLst>
          </p:cNvPr>
          <p:cNvSpPr>
            <a:spLocks noGrp="1"/>
          </p:cNvSpPr>
          <p:nvPr>
            <p:ph type="title"/>
          </p:nvPr>
        </p:nvSpPr>
        <p:spPr>
          <a:xfrm>
            <a:off x="468601" y="301451"/>
            <a:ext cx="2977983" cy="1092055"/>
          </a:xfrm>
        </p:spPr>
        <p:txBody>
          <a:bodyPr vert="horz" lIns="91440" tIns="45720" rIns="91440" bIns="45720" rtlCol="0" anchor="ctr">
            <a:normAutofit fontScale="90000"/>
          </a:bodyPr>
          <a:lstStyle/>
          <a:p>
            <a:r>
              <a:rPr lang="en-US" sz="2800" dirty="0" err="1">
                <a:solidFill>
                  <a:srgbClr val="FFFFFF"/>
                </a:solidFill>
              </a:rPr>
              <a:t>Parametri</a:t>
            </a:r>
            <a:r>
              <a:rPr lang="en-US" sz="2800" dirty="0">
                <a:solidFill>
                  <a:srgbClr val="FFFFFF"/>
                </a:solidFill>
              </a:rPr>
              <a:t> patch </a:t>
            </a:r>
            <a:r>
              <a:rPr lang="en-US" sz="2800" dirty="0" err="1">
                <a:solidFill>
                  <a:srgbClr val="FFFFFF"/>
                </a:solidFill>
              </a:rPr>
              <a:t>superiore</a:t>
            </a:r>
            <a:br>
              <a:rPr lang="en-US" sz="2800" dirty="0">
                <a:solidFill>
                  <a:srgbClr val="FFFFFF"/>
                </a:solidFill>
              </a:rPr>
            </a:br>
            <a:endParaRPr lang="en-US" sz="2800" dirty="0">
              <a:solidFill>
                <a:srgbClr val="FFFFFF"/>
              </a:solidFill>
            </a:endParaRPr>
          </a:p>
        </p:txBody>
      </p:sp>
      <p:pic>
        <p:nvPicPr>
          <p:cNvPr id="5" name="Segnaposto contenuto 4" descr="Immagine che contiene testo, schermata, Carattere, documento&#10;&#10;Descrizione generata automaticamente">
            <a:extLst>
              <a:ext uri="{FF2B5EF4-FFF2-40B4-BE49-F238E27FC236}">
                <a16:creationId xmlns:a16="http://schemas.microsoft.com/office/drawing/2014/main" id="{C85B4652-2B2A-0A63-8C69-6DAE8A9D3D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82944" y="504929"/>
            <a:ext cx="4558172" cy="4748095"/>
          </a:xfrm>
          <a:prstGeom prst="rect">
            <a:avLst/>
          </a:prstGeom>
        </p:spPr>
      </p:pic>
      <p:pic>
        <p:nvPicPr>
          <p:cNvPr id="7" name="Immagine 6" descr="Immagine che contiene testo, schermata, Carattere, documento&#10;&#10;Descrizione generata automaticamente">
            <a:extLst>
              <a:ext uri="{FF2B5EF4-FFF2-40B4-BE49-F238E27FC236}">
                <a16:creationId xmlns:a16="http://schemas.microsoft.com/office/drawing/2014/main" id="{7E497EBF-3271-38ED-CF8F-21FDC06BA0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6230" y="478986"/>
            <a:ext cx="4558171" cy="6077563"/>
          </a:xfrm>
          <a:prstGeom prst="rect">
            <a:avLst/>
          </a:prstGeom>
        </p:spPr>
      </p:pic>
      <p:sp>
        <p:nvSpPr>
          <p:cNvPr id="8" name="Pulsante di azione: Home 7">
            <a:hlinkClick r:id="rId4" action="ppaction://hlinksldjump" highlightClick="1"/>
            <a:extLst>
              <a:ext uri="{FF2B5EF4-FFF2-40B4-BE49-F238E27FC236}">
                <a16:creationId xmlns:a16="http://schemas.microsoft.com/office/drawing/2014/main" id="{1A6F3BC0-6ED7-B46B-EF10-34B3EABFB173}"/>
              </a:ext>
            </a:extLst>
          </p:cNvPr>
          <p:cNvSpPr/>
          <p:nvPr/>
        </p:nvSpPr>
        <p:spPr>
          <a:xfrm>
            <a:off x="334297" y="5928851"/>
            <a:ext cx="924232" cy="776749"/>
          </a:xfrm>
          <a:prstGeom prst="actionButtonHom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904939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C3548"/>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 name="Rectangle 13">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C52D9D3B-E92D-92B6-00BB-844F52FE3DF4}"/>
              </a:ext>
            </a:extLst>
          </p:cNvPr>
          <p:cNvSpPr>
            <a:spLocks noGrp="1"/>
          </p:cNvSpPr>
          <p:nvPr>
            <p:ph type="title"/>
          </p:nvPr>
        </p:nvSpPr>
        <p:spPr>
          <a:xfrm>
            <a:off x="321282" y="258567"/>
            <a:ext cx="2344037" cy="1103094"/>
          </a:xfrm>
        </p:spPr>
        <p:txBody>
          <a:bodyPr vert="horz" lIns="91440" tIns="45720" rIns="91440" bIns="45720" rtlCol="0" anchor="ctr">
            <a:normAutofit fontScale="90000"/>
          </a:bodyPr>
          <a:lstStyle/>
          <a:p>
            <a:r>
              <a:rPr lang="en-US" sz="2800" dirty="0" err="1">
                <a:solidFill>
                  <a:srgbClr val="FFFFFF"/>
                </a:solidFill>
              </a:rPr>
              <a:t>Processo</a:t>
            </a:r>
            <a:r>
              <a:rPr lang="en-US" sz="2800" dirty="0">
                <a:solidFill>
                  <a:srgbClr val="FFFFFF"/>
                </a:solidFill>
              </a:rPr>
              <a:t> </a:t>
            </a:r>
            <a:r>
              <a:rPr lang="en-US" sz="2800" dirty="0" err="1">
                <a:solidFill>
                  <a:srgbClr val="FFFFFF"/>
                </a:solidFill>
              </a:rPr>
              <a:t>iterativo</a:t>
            </a:r>
            <a:r>
              <a:rPr lang="en-US" sz="2800" dirty="0">
                <a:solidFill>
                  <a:srgbClr val="FFFFFF"/>
                </a:solidFill>
              </a:rPr>
              <a:t> </a:t>
            </a:r>
            <a:r>
              <a:rPr lang="en-US" sz="2800" dirty="0" err="1">
                <a:solidFill>
                  <a:srgbClr val="FFFFFF"/>
                </a:solidFill>
              </a:rPr>
              <a:t>analogo</a:t>
            </a:r>
            <a:r>
              <a:rPr lang="en-US" sz="2800" dirty="0">
                <a:solidFill>
                  <a:srgbClr val="FFFFFF"/>
                </a:solidFill>
              </a:rPr>
              <a:t> </a:t>
            </a:r>
            <a:br>
              <a:rPr lang="en-US" sz="2800" dirty="0">
                <a:solidFill>
                  <a:srgbClr val="FFFFFF"/>
                </a:solidFill>
              </a:rPr>
            </a:br>
            <a:endParaRPr lang="en-US" sz="2800" dirty="0">
              <a:solidFill>
                <a:srgbClr val="FFFFFF"/>
              </a:solidFill>
            </a:endParaRPr>
          </a:p>
        </p:txBody>
      </p:sp>
      <p:pic>
        <p:nvPicPr>
          <p:cNvPr id="7" name="Immagine 6" descr="Immagine che contiene testo, schermata, lettera, Carattere&#10;&#10;Descrizione generata automaticamente">
            <a:extLst>
              <a:ext uri="{FF2B5EF4-FFF2-40B4-BE49-F238E27FC236}">
                <a16:creationId xmlns:a16="http://schemas.microsoft.com/office/drawing/2014/main" id="{692BEDE8-DE3D-A9DD-6CEF-83882CD56D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3031" y="458003"/>
            <a:ext cx="4456493" cy="5941994"/>
          </a:xfrm>
          <a:prstGeom prst="rect">
            <a:avLst/>
          </a:prstGeom>
        </p:spPr>
      </p:pic>
      <p:pic>
        <p:nvPicPr>
          <p:cNvPr id="5" name="Segnaposto contenuto 4" descr="Immagine che contiene testo, schermata, Carattere, documento&#10;&#10;Descrizione generata automaticamente">
            <a:extLst>
              <a:ext uri="{FF2B5EF4-FFF2-40B4-BE49-F238E27FC236}">
                <a16:creationId xmlns:a16="http://schemas.microsoft.com/office/drawing/2014/main" id="{779C2A43-B01A-9426-E309-F7F843C2BD6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497795" y="458003"/>
            <a:ext cx="4456493" cy="5941994"/>
          </a:xfrm>
          <a:prstGeom prst="rect">
            <a:avLst/>
          </a:prstGeom>
        </p:spPr>
      </p:pic>
      <p:sp>
        <p:nvSpPr>
          <p:cNvPr id="8" name="Pulsante di azione: Home 7">
            <a:hlinkClick r:id="rId4" action="ppaction://hlinksldjump" highlightClick="1"/>
            <a:extLst>
              <a:ext uri="{FF2B5EF4-FFF2-40B4-BE49-F238E27FC236}">
                <a16:creationId xmlns:a16="http://schemas.microsoft.com/office/drawing/2014/main" id="{0BE3940B-5FCD-7740-1AC4-5E5C697D33D0}"/>
              </a:ext>
            </a:extLst>
          </p:cNvPr>
          <p:cNvSpPr/>
          <p:nvPr/>
        </p:nvSpPr>
        <p:spPr>
          <a:xfrm>
            <a:off x="334297" y="5928851"/>
            <a:ext cx="924232" cy="776749"/>
          </a:xfrm>
          <a:prstGeom prst="actionButtonHom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838467442"/>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TotalTime>
  <Words>495</Words>
  <Application>Microsoft Office PowerPoint</Application>
  <PresentationFormat>Widescreen</PresentationFormat>
  <Paragraphs>32</Paragraphs>
  <Slides>8</Slides>
  <Notes>1</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8</vt:i4>
      </vt:variant>
    </vt:vector>
  </HeadingPairs>
  <TitlesOfParts>
    <vt:vector size="13" baseType="lpstr">
      <vt:lpstr>Aptos</vt:lpstr>
      <vt:lpstr>Aptos Display</vt:lpstr>
      <vt:lpstr>Arial</vt:lpstr>
      <vt:lpstr>Times New Roman</vt:lpstr>
      <vt:lpstr>Tema di Office</vt:lpstr>
      <vt:lpstr>Presentazione standard di PowerPoint</vt:lpstr>
      <vt:lpstr>Presentazione standard di PowerPoint</vt:lpstr>
      <vt:lpstr>Presentazione standard di PowerPoint</vt:lpstr>
      <vt:lpstr>INPUT</vt:lpstr>
      <vt:lpstr>Parametri geometrici</vt:lpstr>
      <vt:lpstr>Valutazione dei grafici. Prestazioni buone? </vt:lpstr>
      <vt:lpstr>Parametri patch superiore </vt:lpstr>
      <vt:lpstr>Processo iterativo analogo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silvia gialloreto</dc:creator>
  <cp:lastModifiedBy>silvia gialloreto</cp:lastModifiedBy>
  <cp:revision>3</cp:revision>
  <dcterms:created xsi:type="dcterms:W3CDTF">2025-01-29T14:06:10Z</dcterms:created>
  <dcterms:modified xsi:type="dcterms:W3CDTF">2025-03-20T10:50:12Z</dcterms:modified>
</cp:coreProperties>
</file>